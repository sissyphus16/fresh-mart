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F9341A5-CE88-CD25-B6AB-71051C3942C5}">
          <p14:sldIdLst>
            <p14:sldId id="256"/>
            <p14:sldId id="258"/>
            <p14:sldId id="257"/>
            <p14:sldId id="259"/>
          </p14:sldIdLst>
        </p14:section>
        <p14:section name="Code and implementation" id="{F746E5A8-1911-EA47-101E-02E5C8FF8AC5}">
          <p14:sldIdLst>
            <p14:sldId id="260"/>
            <p14:sldId id="261"/>
            <p14:sldId id="262"/>
            <p14:sldId id="263"/>
            <p14:sldId id="264"/>
            <p14:sldId id="265"/>
            <p14:sldId id="266"/>
            <p14:sldId id="267"/>
          </p14:sldIdLst>
        </p14:section>
        <p14:section name="Testing and demo" id="{C071BDC5-9584-D416-A1A6-638331586BE5}">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T" userId="92c613006e110c63" providerId="LiveId" clId="{4B1C15C6-E80A-4B67-9793-4F7DF78EC148}"/>
    <pc:docChg chg="custSel modSld sldOrd">
      <pc:chgData name="A T" userId="92c613006e110c63" providerId="LiveId" clId="{4B1C15C6-E80A-4B67-9793-4F7DF78EC148}" dt="2026-10-29T03:20:51.932" v="21" actId="1076"/>
      <pc:docMkLst>
        <pc:docMk/>
      </pc:docMkLst>
      <pc:sldChg chg="delSp modSp mod">
        <pc:chgData name="A T" userId="92c613006e110c63" providerId="LiveId" clId="{4B1C15C6-E80A-4B67-9793-4F7DF78EC148}" dt="2026-10-29T03:20:51.932" v="21" actId="1076"/>
        <pc:sldMkLst>
          <pc:docMk/>
          <pc:sldMk cId="0" sldId="257"/>
        </pc:sldMkLst>
        <pc:spChg chg="mod">
          <ac:chgData name="A T" userId="92c613006e110c63" providerId="LiveId" clId="{4B1C15C6-E80A-4B67-9793-4F7DF78EC148}" dt="2026-10-29T03:20:05.679" v="10" actId="1076"/>
          <ac:spMkLst>
            <pc:docMk/>
            <pc:sldMk cId="0" sldId="257"/>
            <ac:spMk id="13" creationId="{00000000-0000-0000-0000-000000000000}"/>
          </ac:spMkLst>
        </pc:spChg>
        <pc:spChg chg="mod">
          <ac:chgData name="A T" userId="92c613006e110c63" providerId="LiveId" clId="{4B1C15C6-E80A-4B67-9793-4F7DF78EC148}" dt="2026-10-29T03:20:49.049" v="20" actId="1076"/>
          <ac:spMkLst>
            <pc:docMk/>
            <pc:sldMk cId="0" sldId="257"/>
            <ac:spMk id="14" creationId="{00000000-0000-0000-0000-000000000000}"/>
          </ac:spMkLst>
        </pc:spChg>
        <pc:spChg chg="mod">
          <ac:chgData name="A T" userId="92c613006e110c63" providerId="LiveId" clId="{4B1C15C6-E80A-4B67-9793-4F7DF78EC148}" dt="2026-10-29T03:20:46.256" v="19" actId="1076"/>
          <ac:spMkLst>
            <pc:docMk/>
            <pc:sldMk cId="0" sldId="257"/>
            <ac:spMk id="16" creationId="{00000000-0000-0000-0000-000000000000}"/>
          </ac:spMkLst>
        </pc:spChg>
        <pc:spChg chg="mod">
          <ac:chgData name="A T" userId="92c613006e110c63" providerId="LiveId" clId="{4B1C15C6-E80A-4B67-9793-4F7DF78EC148}" dt="2026-10-29T03:20:23.076" v="14" actId="1076"/>
          <ac:spMkLst>
            <pc:docMk/>
            <pc:sldMk cId="0" sldId="257"/>
            <ac:spMk id="17" creationId="{00000000-0000-0000-0000-000000000000}"/>
          </ac:spMkLst>
        </pc:spChg>
        <pc:spChg chg="del">
          <ac:chgData name="A T" userId="92c613006e110c63" providerId="LiveId" clId="{4B1C15C6-E80A-4B67-9793-4F7DF78EC148}" dt="2026-10-29T03:19:35.894" v="2" actId="478"/>
          <ac:spMkLst>
            <pc:docMk/>
            <pc:sldMk cId="0" sldId="257"/>
            <ac:spMk id="18" creationId="{00000000-0000-0000-0000-000000000000}"/>
          </ac:spMkLst>
        </pc:spChg>
        <pc:spChg chg="del">
          <ac:chgData name="A T" userId="92c613006e110c63" providerId="LiveId" clId="{4B1C15C6-E80A-4B67-9793-4F7DF78EC148}" dt="2026-10-29T03:19:40.677" v="4" actId="478"/>
          <ac:spMkLst>
            <pc:docMk/>
            <pc:sldMk cId="0" sldId="257"/>
            <ac:spMk id="19" creationId="{00000000-0000-0000-0000-000000000000}"/>
          </ac:spMkLst>
        </pc:spChg>
        <pc:spChg chg="del">
          <ac:chgData name="A T" userId="92c613006e110c63" providerId="LiveId" clId="{4B1C15C6-E80A-4B67-9793-4F7DF78EC148}" dt="2026-10-29T03:19:38.200" v="3" actId="478"/>
          <ac:spMkLst>
            <pc:docMk/>
            <pc:sldMk cId="0" sldId="257"/>
            <ac:spMk id="21" creationId="{00000000-0000-0000-0000-000000000000}"/>
          </ac:spMkLst>
        </pc:spChg>
        <pc:spChg chg="del mod">
          <ac:chgData name="A T" userId="92c613006e110c63" providerId="LiveId" clId="{4B1C15C6-E80A-4B67-9793-4F7DF78EC148}" dt="2026-10-29T03:19:46.031" v="6" actId="478"/>
          <ac:spMkLst>
            <pc:docMk/>
            <pc:sldMk cId="0" sldId="257"/>
            <ac:spMk id="22" creationId="{00000000-0000-0000-0000-000000000000}"/>
          </ac:spMkLst>
        </pc:spChg>
        <pc:picChg chg="mod">
          <ac:chgData name="A T" userId="92c613006e110c63" providerId="LiveId" clId="{4B1C15C6-E80A-4B67-9793-4F7DF78EC148}" dt="2026-10-29T03:20:51.932" v="21" actId="1076"/>
          <ac:picMkLst>
            <pc:docMk/>
            <pc:sldMk cId="0" sldId="257"/>
            <ac:picMk id="15" creationId="{00000000-0000-0000-0000-000000000000}"/>
          </ac:picMkLst>
        </pc:picChg>
        <pc:picChg chg="del mod">
          <ac:chgData name="A T" userId="92c613006e110c63" providerId="LiveId" clId="{4B1C15C6-E80A-4B67-9793-4F7DF78EC148}" dt="2026-10-29T03:20:18.740" v="13" actId="478"/>
          <ac:picMkLst>
            <pc:docMk/>
            <pc:sldMk cId="0" sldId="257"/>
            <ac:picMk id="20" creationId="{00000000-0000-0000-0000-000000000000}"/>
          </ac:picMkLst>
        </pc:picChg>
      </pc:sldChg>
      <pc:sldChg chg="ord">
        <pc:chgData name="A T" userId="92c613006e110c63" providerId="LiveId" clId="{4B1C15C6-E80A-4B67-9793-4F7DF78EC148}" dt="2026-10-29T02:47:30.202" v="1"/>
        <pc:sldMkLst>
          <pc:docMk/>
          <pc:sldMk cId="0" sldId="2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355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(about 1 minute). Fresh Mart is a grocery shop system written in Java. It started as a console program and now also runs as a website, so a customer can browse products, fill a cart and pay.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Many small shops still bill by hand, which leads to wrong totals, stock records that do not match the shelf, and slow service. The next slides show how the system solves each of these.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Four goals: automate the bill, keep stock accurate, apply the OOP concepts from the course, and offer both a console and a website. The scope is products, cart, checkout and error handling. Data lives in memory, so it resets when the program restarts.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Walk through the five steps. Step 3 is the important one: the quantity must be a valid number, the product must be in stock, and the requested amount must be available. Otherwise an error message is shown.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Go down the table quickly. Stress that Purchasable and Product give the structure, the three subclasses add detail, Cart and Customer model the shopper, and GroceryStore and GroceryWeb are the two ways in: console and website.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The diagram shows the main classes. Point out inheritance from Product, the Customer-Cart composition, and the GroceryStore holding products. The full UML document with class, use case, sequence, activity and deployment diagrams is on GitHub.</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Start with the interface: any purchasable thing must give a price, say if it is available, and be purchased. Product implements it and holds the shared fields. Because Product is abstract, only its subclasses can be created.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Show FoodItem as the example; the other two follow the same pattern with different fields. The loop at the bottom is the key: one list, one call, and each object prints itself in its own way. That is dynamic method binding.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The cart is where billing happens. addItem checks availability and stock before adding, and merges repeat additions. getTotal uses a stream to add up price times quantity. checkout reduces stock through purchase and then clears the cart.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Errors are thrown where they are detected, in purchase and addItem, and caught where the user types, in the menu. Typing letters triggers NumberFormatException, and asking for too much stock triggers IllegalArgumentException. Either way the user sees a message and the program continues.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GroceryStore is the controller. It fills the inventory once, then loops: show the menu, read a choice, and use a switch to call the right method. The Customer owns the Cart, so checkout goes through the customer.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is the order the layers fit together: products first, then the shopping logic, then the controller, then safety checks, then the website, and finally documentation and tests. Each layer only depends on the ones before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Every purchase goes through these checks, and exceptions turn failures into clear messages. We tested the website routes with nine cases, including too much quantity, a negative quantity, an empty cart and separate carts per visitor. All nine passed.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minutes. Start the server on the laptop with java GroceryShop before presenting, then open http://localhost:8080 in the browser. Follow the four demo steps. Mention that the same Java classes also run in a console version (java GroceryShop console).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Summarise the three results, then the next steps: a database for permanent data, an admin panel, and payments. Invite questions and offer to run the demo again.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1005840"/>
            <a:ext cx="5120640" cy="1005840"/>
          </a:xfrm>
          <a:prstGeom prst="rect">
            <a:avLst/>
          </a:prstGeom>
          <a:noFill/>
          <a:ln/>
        </p:spPr>
        <p:txBody>
          <a:bodyPr wrap="square" lIns="0" tIns="0" rIns="0" bIns="0" rtlCol="0" anchor="ctr"/>
          <a:lstStyle/>
          <a:p>
            <a:pPr marL="0" indent="0">
              <a:buNone/>
            </a:pPr>
            <a:r>
              <a:rPr lang="en-US" sz="6000" b="1" dirty="0">
                <a:solidFill>
                  <a:schemeClr val="bg1"/>
                </a:solidFill>
                <a:latin typeface="Cambria" pitchFamily="34" charset="0"/>
                <a:ea typeface="Cambria" pitchFamily="34" charset="-122"/>
                <a:cs typeface="Cambria" pitchFamily="34" charset="-120"/>
              </a:rPr>
              <a:t>Fresh Mart</a:t>
            </a:r>
            <a:endParaRPr lang="en-US" sz="6000" dirty="0"/>
          </a:p>
        </p:txBody>
      </p:sp>
      <p:sp>
        <p:nvSpPr>
          <p:cNvPr id="3" name="Subtitle"/>
          <p:cNvSpPr txBox="1"/>
          <p:nvPr/>
        </p:nvSpPr>
        <p:spPr>
          <a:xfrm>
            <a:off x="548640" y="2057400"/>
            <a:ext cx="5120640" cy="457200"/>
          </a:xfrm>
          <a:prstGeom prst="rect">
            <a:avLst/>
          </a:prstGeom>
          <a:noFill/>
          <a:ln/>
        </p:spPr>
        <p:txBody>
          <a:bodyPr wrap="square" lIns="0" tIns="0" rIns="0" bIns="0" rtlCol="0" anchor="ctr"/>
          <a:lstStyle/>
          <a:p>
            <a:pPr marL="0" indent="0">
              <a:buNone/>
            </a:pPr>
            <a:r>
              <a:rPr lang="en-US" sz="2200" dirty="0">
                <a:solidFill>
                  <a:schemeClr val="accent2"/>
                </a:solidFill>
              </a:rPr>
              <a:t>Grocery Shop Management System</a:t>
            </a:r>
            <a:endParaRPr lang="en-US" sz="2200" dirty="0"/>
          </a:p>
        </p:txBody>
      </p:sp>
      <p:sp>
        <p:nvSpPr>
          <p:cNvPr id="4" name="Team details"/>
          <p:cNvSpPr txBox="1"/>
          <p:nvPr/>
        </p:nvSpPr>
        <p:spPr>
          <a:xfrm>
            <a:off x="548640" y="2788920"/>
            <a:ext cx="5120640" cy="1828800"/>
          </a:xfrm>
          <a:prstGeom prst="rect">
            <a:avLst/>
          </a:prstGeom>
          <a:noFill/>
          <a:ln/>
        </p:spPr>
        <p:txBody>
          <a:bodyPr wrap="square" lIns="0" tIns="0" rIns="0" bIns="0" rtlCol="0" anchor="ctr"/>
          <a:lstStyle/>
          <a:p>
            <a:pPr marL="0" indent="0">
              <a:spcAft>
                <a:spcPts val="400"/>
              </a:spcAft>
              <a:buNone/>
            </a:pPr>
            <a:r>
              <a:rPr lang="en-US" sz="1600" dirty="0">
                <a:solidFill>
                  <a:schemeClr val="bg2"/>
                </a:solidFill>
              </a:rPr>
              <a:t>OOPS Lab Mini Project</a:t>
            </a:r>
            <a:endParaRPr lang="en-US" sz="1600" dirty="0"/>
          </a:p>
          <a:p>
            <a:pPr marL="0" indent="0">
              <a:spcAft>
                <a:spcPts val="400"/>
              </a:spcAft>
              <a:buNone/>
            </a:pPr>
            <a:r>
              <a:rPr lang="en-US" sz="1600" dirty="0">
                <a:solidFill>
                  <a:schemeClr val="bg2"/>
                </a:solidFill>
              </a:rPr>
              <a:t>Submitted to: Dr. Sakshi Ranjan</a:t>
            </a:r>
            <a:endParaRPr lang="en-US" sz="1600" dirty="0"/>
          </a:p>
          <a:p>
            <a:pPr marL="0" indent="0">
              <a:spcAft>
                <a:spcPts val="400"/>
              </a:spcAft>
              <a:buNone/>
            </a:pPr>
            <a:r>
              <a:rPr lang="en-US" sz="1600" b="1" dirty="0">
                <a:solidFill>
                  <a:schemeClr val="bg2"/>
                </a:solidFill>
              </a:rPr>
              <a:t>Submitted by:</a:t>
            </a:r>
            <a:endParaRPr lang="en-US" sz="1600" dirty="0"/>
          </a:p>
          <a:p>
            <a:pPr marL="0" indent="0">
              <a:spcAft>
                <a:spcPts val="400"/>
              </a:spcAft>
              <a:buNone/>
            </a:pPr>
            <a:r>
              <a:rPr lang="en-US" sz="1600" dirty="0">
                <a:solidFill>
                  <a:schemeClr val="bg2"/>
                </a:solidFill>
              </a:rPr>
              <a:t>R025   Anmol Jain</a:t>
            </a:r>
            <a:endParaRPr lang="en-US" sz="1600" dirty="0"/>
          </a:p>
          <a:p>
            <a:pPr marL="0" indent="0">
              <a:spcAft>
                <a:spcPts val="400"/>
              </a:spcAft>
              <a:buNone/>
            </a:pPr>
            <a:r>
              <a:rPr lang="en-US" sz="1600" dirty="0">
                <a:solidFill>
                  <a:schemeClr val="bg2"/>
                </a:solidFill>
              </a:rPr>
              <a:t>R028   Thakarshi Jayandhan</a:t>
            </a:r>
            <a:endParaRPr lang="en-US" sz="1600" dirty="0"/>
          </a:p>
          <a:p>
            <a:pPr marL="0" indent="0">
              <a:spcAft>
                <a:spcPts val="400"/>
              </a:spcAft>
              <a:buNone/>
            </a:pPr>
            <a:r>
              <a:rPr lang="en-US" sz="1600" dirty="0">
                <a:solidFill>
                  <a:schemeClr val="bg2"/>
                </a:solidFill>
              </a:rPr>
              <a:t>R031   Harsh Joshi</a:t>
            </a:r>
            <a:endParaRPr lang="en-US" sz="1600" dirty="0"/>
          </a:p>
        </p:txBody>
      </p:sp>
      <p:sp>
        <p:nvSpPr>
          <p:cNvPr id="5" name="Cart badge"/>
          <p:cNvSpPr/>
          <p:nvPr/>
        </p:nvSpPr>
        <p:spPr>
          <a:xfrm>
            <a:off x="6035040" y="1097280"/>
            <a:ext cx="2651760" cy="2651760"/>
          </a:xfrm>
          <a:prstGeom prst="ellipse">
            <a:avLst/>
          </a:prstGeom>
          <a:solidFill>
            <a:schemeClr val="accent2"/>
          </a:solidFill>
          <a:ln w="12700">
            <a:solidFill>
              <a:schemeClr val="accent2"/>
            </a:solidFill>
            <a:prstDash val="solid"/>
          </a:ln>
        </p:spPr>
      </p:sp>
      <p:pic>
        <p:nvPicPr>
          <p:cNvPr id="6" name="Image 0" descr="Shopping cart"/>
          <p:cNvPicPr>
            <a:picLocks noChangeAspect="1"/>
          </p:cNvPicPr>
          <p:nvPr/>
        </p:nvPicPr>
        <p:blipFill>
          <a:blip r:embed="rId3"/>
          <a:stretch>
            <a:fillRect/>
          </a:stretch>
        </p:blipFill>
        <p:spPr>
          <a:xfrm>
            <a:off x="6720840" y="178308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lide title"/>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Manual billing causes mistakes</a:t>
            </a:r>
            <a:endParaRPr lang="en-US" sz="3600" dirty="0"/>
          </a:p>
        </p:txBody>
      </p:sp>
      <p:sp>
        <p:nvSpPr>
          <p:cNvPr id="3" name="Wrong totals card"/>
          <p:cNvSpPr/>
          <p:nvPr/>
        </p:nvSpPr>
        <p:spPr>
          <a:xfrm>
            <a:off x="457200" y="1554480"/>
            <a:ext cx="2606040" cy="2560320"/>
          </a:xfrm>
          <a:prstGeom prst="roundRect">
            <a:avLst>
              <a:gd name="adj" fmla="val 3571"/>
            </a:avLst>
          </a:prstGeom>
          <a:solidFill>
            <a:schemeClr val="bg2"/>
          </a:solidFill>
          <a:ln w="12700">
            <a:solidFill>
              <a:schemeClr val="bg2"/>
            </a:solidFill>
            <a:prstDash val="solid"/>
          </a:ln>
        </p:spPr>
      </p:sp>
      <p:sp>
        <p:nvSpPr>
          <p:cNvPr id="4" name="Wrong totals badge"/>
          <p:cNvSpPr/>
          <p:nvPr/>
        </p:nvSpPr>
        <p:spPr>
          <a:xfrm>
            <a:off x="1440180" y="1783080"/>
            <a:ext cx="640080" cy="640080"/>
          </a:xfrm>
          <a:prstGeom prst="ellipse">
            <a:avLst/>
          </a:prstGeom>
          <a:solidFill>
            <a:schemeClr val="accent3"/>
          </a:solidFill>
          <a:ln w="12700">
            <a:solidFill>
              <a:schemeClr val="accent3"/>
            </a:solidFill>
            <a:prstDash val="solid"/>
          </a:ln>
        </p:spPr>
      </p:sp>
      <p:pic>
        <p:nvPicPr>
          <p:cNvPr id="5" name="Image 0" descr="Wrong totals"/>
          <p:cNvPicPr>
            <a:picLocks noChangeAspect="1"/>
          </p:cNvPicPr>
          <p:nvPr/>
        </p:nvPicPr>
        <p:blipFill>
          <a:blip r:embed="rId3"/>
          <a:stretch>
            <a:fillRect/>
          </a:stretch>
        </p:blipFill>
        <p:spPr>
          <a:xfrm>
            <a:off x="1600200" y="1943100"/>
            <a:ext cx="320040" cy="320040"/>
          </a:xfrm>
          <a:prstGeom prst="rect">
            <a:avLst/>
          </a:prstGeom>
        </p:spPr>
      </p:pic>
      <p:sp>
        <p:nvSpPr>
          <p:cNvPr id="6" name="Wrong totals heading"/>
          <p:cNvSpPr txBox="1"/>
          <p:nvPr/>
        </p:nvSpPr>
        <p:spPr>
          <a:xfrm>
            <a:off x="594360" y="2560320"/>
            <a:ext cx="2331720" cy="45720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Wrong totals</a:t>
            </a:r>
            <a:endParaRPr lang="en-US" sz="2000" dirty="0"/>
          </a:p>
        </p:txBody>
      </p:sp>
      <p:sp>
        <p:nvSpPr>
          <p:cNvPr id="7" name="Wrong totals text"/>
          <p:cNvSpPr txBox="1"/>
          <p:nvPr/>
        </p:nvSpPr>
        <p:spPr>
          <a:xfrm>
            <a:off x="640080" y="3108960"/>
            <a:ext cx="2240280" cy="822960"/>
          </a:xfrm>
          <a:prstGeom prst="rect">
            <a:avLst/>
          </a:prstGeom>
          <a:noFill/>
          <a:ln/>
        </p:spPr>
        <p:txBody>
          <a:bodyPr wrap="square" lIns="0" tIns="0" rIns="0" bIns="0" rtlCol="0" anchor="t"/>
          <a:lstStyle/>
          <a:p>
            <a:pPr marL="0" indent="0" algn="ctr">
              <a:buNone/>
            </a:pPr>
            <a:r>
              <a:rPr lang="en-US" sz="1600" dirty="0">
                <a:solidFill>
                  <a:schemeClr val="tx1"/>
                </a:solidFill>
              </a:rPr>
              <a:t>Totals are added up by hand and go wrong</a:t>
            </a:r>
            <a:endParaRPr lang="en-US" sz="1600" dirty="0"/>
          </a:p>
        </p:txBody>
      </p:sp>
      <p:sp>
        <p:nvSpPr>
          <p:cNvPr id="8" name="Stock mismatch card"/>
          <p:cNvSpPr/>
          <p:nvPr/>
        </p:nvSpPr>
        <p:spPr>
          <a:xfrm>
            <a:off x="3264408" y="1554480"/>
            <a:ext cx="2606040" cy="2560320"/>
          </a:xfrm>
          <a:prstGeom prst="roundRect">
            <a:avLst>
              <a:gd name="adj" fmla="val 3571"/>
            </a:avLst>
          </a:prstGeom>
          <a:solidFill>
            <a:schemeClr val="bg2"/>
          </a:solidFill>
          <a:ln w="12700">
            <a:solidFill>
              <a:schemeClr val="bg2"/>
            </a:solidFill>
            <a:prstDash val="solid"/>
          </a:ln>
        </p:spPr>
      </p:sp>
      <p:sp>
        <p:nvSpPr>
          <p:cNvPr id="9" name="Stock mismatch badge"/>
          <p:cNvSpPr/>
          <p:nvPr/>
        </p:nvSpPr>
        <p:spPr>
          <a:xfrm>
            <a:off x="4247388" y="1783080"/>
            <a:ext cx="640080" cy="640080"/>
          </a:xfrm>
          <a:prstGeom prst="ellipse">
            <a:avLst/>
          </a:prstGeom>
          <a:solidFill>
            <a:schemeClr val="accent3"/>
          </a:solidFill>
          <a:ln w="12700">
            <a:solidFill>
              <a:schemeClr val="accent3"/>
            </a:solidFill>
            <a:prstDash val="solid"/>
          </a:ln>
        </p:spPr>
      </p:sp>
      <p:pic>
        <p:nvPicPr>
          <p:cNvPr id="10" name="Image 1" descr="Stock mismatch"/>
          <p:cNvPicPr>
            <a:picLocks noChangeAspect="1"/>
          </p:cNvPicPr>
          <p:nvPr/>
        </p:nvPicPr>
        <p:blipFill>
          <a:blip r:embed="rId3"/>
          <a:stretch>
            <a:fillRect/>
          </a:stretch>
        </p:blipFill>
        <p:spPr>
          <a:xfrm>
            <a:off x="4407408" y="1943100"/>
            <a:ext cx="320040" cy="320040"/>
          </a:xfrm>
          <a:prstGeom prst="rect">
            <a:avLst/>
          </a:prstGeom>
        </p:spPr>
      </p:pic>
      <p:sp>
        <p:nvSpPr>
          <p:cNvPr id="11" name="Stock mismatch heading"/>
          <p:cNvSpPr txBox="1"/>
          <p:nvPr/>
        </p:nvSpPr>
        <p:spPr>
          <a:xfrm>
            <a:off x="3401568" y="2560320"/>
            <a:ext cx="2331720" cy="45720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Stock mismatch</a:t>
            </a:r>
            <a:endParaRPr lang="en-US" sz="2000" dirty="0"/>
          </a:p>
        </p:txBody>
      </p:sp>
      <p:sp>
        <p:nvSpPr>
          <p:cNvPr id="12" name="Stock mismatch text"/>
          <p:cNvSpPr txBox="1"/>
          <p:nvPr/>
        </p:nvSpPr>
        <p:spPr>
          <a:xfrm>
            <a:off x="3447288" y="3108960"/>
            <a:ext cx="2240280" cy="822960"/>
          </a:xfrm>
          <a:prstGeom prst="rect">
            <a:avLst/>
          </a:prstGeom>
          <a:noFill/>
          <a:ln/>
        </p:spPr>
        <p:txBody>
          <a:bodyPr wrap="square" lIns="0" tIns="0" rIns="0" bIns="0" rtlCol="0" anchor="t"/>
          <a:lstStyle/>
          <a:p>
            <a:pPr marL="0" indent="0" algn="ctr">
              <a:buNone/>
            </a:pPr>
            <a:r>
              <a:rPr lang="en-US" sz="1600" dirty="0">
                <a:solidFill>
                  <a:schemeClr val="tx1"/>
                </a:solidFill>
              </a:rPr>
              <a:t>Stock records do not match the shelf</a:t>
            </a:r>
            <a:endParaRPr lang="en-US" sz="1600" dirty="0"/>
          </a:p>
        </p:txBody>
      </p:sp>
      <p:sp>
        <p:nvSpPr>
          <p:cNvPr id="13" name="Slow billing card"/>
          <p:cNvSpPr/>
          <p:nvPr/>
        </p:nvSpPr>
        <p:spPr>
          <a:xfrm>
            <a:off x="6071616" y="1554480"/>
            <a:ext cx="2606040" cy="2560320"/>
          </a:xfrm>
          <a:prstGeom prst="roundRect">
            <a:avLst>
              <a:gd name="adj" fmla="val 3571"/>
            </a:avLst>
          </a:prstGeom>
          <a:solidFill>
            <a:schemeClr val="bg2"/>
          </a:solidFill>
          <a:ln w="12700">
            <a:solidFill>
              <a:schemeClr val="bg2"/>
            </a:solidFill>
            <a:prstDash val="solid"/>
          </a:ln>
        </p:spPr>
      </p:sp>
      <p:sp>
        <p:nvSpPr>
          <p:cNvPr id="14" name="Slow billing badge"/>
          <p:cNvSpPr/>
          <p:nvPr/>
        </p:nvSpPr>
        <p:spPr>
          <a:xfrm>
            <a:off x="7054596" y="1783080"/>
            <a:ext cx="640080" cy="640080"/>
          </a:xfrm>
          <a:prstGeom prst="ellipse">
            <a:avLst/>
          </a:prstGeom>
          <a:solidFill>
            <a:schemeClr val="accent3"/>
          </a:solidFill>
          <a:ln w="12700">
            <a:solidFill>
              <a:schemeClr val="accent3"/>
            </a:solidFill>
            <a:prstDash val="solid"/>
          </a:ln>
        </p:spPr>
      </p:sp>
      <p:pic>
        <p:nvPicPr>
          <p:cNvPr id="15" name="Image 2" descr="Slow billing"/>
          <p:cNvPicPr>
            <a:picLocks noChangeAspect="1"/>
          </p:cNvPicPr>
          <p:nvPr/>
        </p:nvPicPr>
        <p:blipFill>
          <a:blip r:embed="rId3"/>
          <a:stretch>
            <a:fillRect/>
          </a:stretch>
        </p:blipFill>
        <p:spPr>
          <a:xfrm>
            <a:off x="7214616" y="1943100"/>
            <a:ext cx="320040" cy="320040"/>
          </a:xfrm>
          <a:prstGeom prst="rect">
            <a:avLst/>
          </a:prstGeom>
        </p:spPr>
      </p:pic>
      <p:sp>
        <p:nvSpPr>
          <p:cNvPr id="16" name="Slow billing heading"/>
          <p:cNvSpPr txBox="1"/>
          <p:nvPr/>
        </p:nvSpPr>
        <p:spPr>
          <a:xfrm>
            <a:off x="6208776" y="2560320"/>
            <a:ext cx="2331720" cy="45720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Slow billing</a:t>
            </a:r>
            <a:endParaRPr lang="en-US" sz="2000" dirty="0"/>
          </a:p>
        </p:txBody>
      </p:sp>
      <p:sp>
        <p:nvSpPr>
          <p:cNvPr id="17" name="Slow billing text"/>
          <p:cNvSpPr txBox="1"/>
          <p:nvPr/>
        </p:nvSpPr>
        <p:spPr>
          <a:xfrm>
            <a:off x="6254496" y="3108960"/>
            <a:ext cx="2240280" cy="822960"/>
          </a:xfrm>
          <a:prstGeom prst="rect">
            <a:avLst/>
          </a:prstGeom>
          <a:noFill/>
          <a:ln/>
        </p:spPr>
        <p:txBody>
          <a:bodyPr wrap="square" lIns="0" tIns="0" rIns="0" bIns="0" rtlCol="0" anchor="t"/>
          <a:lstStyle/>
          <a:p>
            <a:pPr marL="0" indent="0" algn="ctr">
              <a:buNone/>
            </a:pPr>
            <a:r>
              <a:rPr lang="en-US" sz="1600" dirty="0">
                <a:solidFill>
                  <a:schemeClr val="tx1"/>
                </a:solidFill>
              </a:rPr>
              <a:t>Billing is slow and hard to repeat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lide title"/>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Project objectives</a:t>
            </a:r>
            <a:endParaRPr lang="en-US" sz="3600" dirty="0"/>
          </a:p>
        </p:txBody>
      </p:sp>
      <p:sp>
        <p:nvSpPr>
          <p:cNvPr id="3" name="Automate billing card"/>
          <p:cNvSpPr/>
          <p:nvPr/>
        </p:nvSpPr>
        <p:spPr>
          <a:xfrm>
            <a:off x="457200" y="1280160"/>
            <a:ext cx="3931920" cy="1371600"/>
          </a:xfrm>
          <a:prstGeom prst="roundRect">
            <a:avLst>
              <a:gd name="adj" fmla="val 6667"/>
            </a:avLst>
          </a:prstGeom>
          <a:solidFill>
            <a:schemeClr val="bg2"/>
          </a:solidFill>
          <a:ln w="12700">
            <a:solidFill>
              <a:schemeClr val="bg2"/>
            </a:solidFill>
            <a:prstDash val="solid"/>
          </a:ln>
        </p:spPr>
      </p:sp>
      <p:sp>
        <p:nvSpPr>
          <p:cNvPr id="4" name="Automate billing badge"/>
          <p:cNvSpPr/>
          <p:nvPr/>
        </p:nvSpPr>
        <p:spPr>
          <a:xfrm>
            <a:off x="685800" y="1645920"/>
            <a:ext cx="640080" cy="640080"/>
          </a:xfrm>
          <a:prstGeom prst="ellipse">
            <a:avLst/>
          </a:prstGeom>
          <a:solidFill>
            <a:schemeClr val="accent1"/>
          </a:solidFill>
          <a:ln w="12700">
            <a:solidFill>
              <a:schemeClr val="accent1"/>
            </a:solidFill>
            <a:prstDash val="solid"/>
          </a:ln>
        </p:spPr>
      </p:sp>
      <p:pic>
        <p:nvPicPr>
          <p:cNvPr id="5" name="Image 0" descr="Automate billing"/>
          <p:cNvPicPr>
            <a:picLocks noChangeAspect="1"/>
          </p:cNvPicPr>
          <p:nvPr/>
        </p:nvPicPr>
        <p:blipFill>
          <a:blip r:embed="rId3"/>
          <a:stretch>
            <a:fillRect/>
          </a:stretch>
        </p:blipFill>
        <p:spPr>
          <a:xfrm>
            <a:off x="845820" y="1805940"/>
            <a:ext cx="320040" cy="320040"/>
          </a:xfrm>
          <a:prstGeom prst="rect">
            <a:avLst/>
          </a:prstGeom>
        </p:spPr>
      </p:pic>
      <p:sp>
        <p:nvSpPr>
          <p:cNvPr id="6" name="Automate billing heading"/>
          <p:cNvSpPr txBox="1"/>
          <p:nvPr/>
        </p:nvSpPr>
        <p:spPr>
          <a:xfrm>
            <a:off x="1508760" y="1417320"/>
            <a:ext cx="2743200" cy="41148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Automate billing</a:t>
            </a:r>
            <a:endParaRPr lang="en-US" sz="1800" dirty="0"/>
          </a:p>
        </p:txBody>
      </p:sp>
      <p:sp>
        <p:nvSpPr>
          <p:cNvPr id="7" name="Automate billing text"/>
          <p:cNvSpPr txBox="1"/>
          <p:nvPr/>
        </p:nvSpPr>
        <p:spPr>
          <a:xfrm>
            <a:off x="1508760" y="1874520"/>
            <a:ext cx="2743200" cy="640080"/>
          </a:xfrm>
          <a:prstGeom prst="rect">
            <a:avLst/>
          </a:prstGeom>
          <a:noFill/>
          <a:ln/>
        </p:spPr>
        <p:txBody>
          <a:bodyPr wrap="square" lIns="0" tIns="0" rIns="0" bIns="0" rtlCol="0" anchor="t"/>
          <a:lstStyle/>
          <a:p>
            <a:pPr marL="0" indent="0">
              <a:buNone/>
            </a:pPr>
            <a:r>
              <a:rPr lang="en-US" sz="1400" dirty="0">
                <a:solidFill>
                  <a:schemeClr val="tx1"/>
                </a:solidFill>
              </a:rPr>
              <a:t>The cart totals the bill with no manual sums</a:t>
            </a:r>
            <a:endParaRPr lang="en-US" sz="1400" dirty="0"/>
          </a:p>
        </p:txBody>
      </p:sp>
      <p:sp>
        <p:nvSpPr>
          <p:cNvPr id="8" name="Keep stock accurate card"/>
          <p:cNvSpPr/>
          <p:nvPr/>
        </p:nvSpPr>
        <p:spPr>
          <a:xfrm>
            <a:off x="4754880" y="1280160"/>
            <a:ext cx="3931920" cy="1371600"/>
          </a:xfrm>
          <a:prstGeom prst="roundRect">
            <a:avLst>
              <a:gd name="adj" fmla="val 6667"/>
            </a:avLst>
          </a:prstGeom>
          <a:solidFill>
            <a:schemeClr val="bg2"/>
          </a:solidFill>
          <a:ln w="12700">
            <a:solidFill>
              <a:schemeClr val="bg2"/>
            </a:solidFill>
            <a:prstDash val="solid"/>
          </a:ln>
        </p:spPr>
      </p:sp>
      <p:sp>
        <p:nvSpPr>
          <p:cNvPr id="9" name="Keep stock accurate badge"/>
          <p:cNvSpPr/>
          <p:nvPr/>
        </p:nvSpPr>
        <p:spPr>
          <a:xfrm>
            <a:off x="4983480" y="1645920"/>
            <a:ext cx="640080" cy="640080"/>
          </a:xfrm>
          <a:prstGeom prst="ellipse">
            <a:avLst/>
          </a:prstGeom>
          <a:solidFill>
            <a:schemeClr val="accent1"/>
          </a:solidFill>
          <a:ln w="12700">
            <a:solidFill>
              <a:schemeClr val="accent1"/>
            </a:solidFill>
            <a:prstDash val="solid"/>
          </a:ln>
        </p:spPr>
      </p:sp>
      <p:pic>
        <p:nvPicPr>
          <p:cNvPr id="10" name="Image 1" descr="Keep stock accurate"/>
          <p:cNvPicPr>
            <a:picLocks noChangeAspect="1"/>
          </p:cNvPicPr>
          <p:nvPr/>
        </p:nvPicPr>
        <p:blipFill>
          <a:blip r:embed="rId4"/>
          <a:stretch>
            <a:fillRect/>
          </a:stretch>
        </p:blipFill>
        <p:spPr>
          <a:xfrm>
            <a:off x="5143500" y="1805940"/>
            <a:ext cx="320040" cy="320040"/>
          </a:xfrm>
          <a:prstGeom prst="rect">
            <a:avLst/>
          </a:prstGeom>
        </p:spPr>
      </p:pic>
      <p:sp>
        <p:nvSpPr>
          <p:cNvPr id="11" name="Keep stock accurate heading"/>
          <p:cNvSpPr txBox="1"/>
          <p:nvPr/>
        </p:nvSpPr>
        <p:spPr>
          <a:xfrm>
            <a:off x="5806440" y="1417320"/>
            <a:ext cx="2743200" cy="41148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Keep stock accurate</a:t>
            </a:r>
            <a:endParaRPr lang="en-US" sz="1800" dirty="0"/>
          </a:p>
        </p:txBody>
      </p:sp>
      <p:sp>
        <p:nvSpPr>
          <p:cNvPr id="12" name="Keep stock accurate text"/>
          <p:cNvSpPr txBox="1"/>
          <p:nvPr/>
        </p:nvSpPr>
        <p:spPr>
          <a:xfrm>
            <a:off x="5806440" y="1874520"/>
            <a:ext cx="2743200" cy="640080"/>
          </a:xfrm>
          <a:prstGeom prst="rect">
            <a:avLst/>
          </a:prstGeom>
          <a:noFill/>
          <a:ln/>
        </p:spPr>
        <p:txBody>
          <a:bodyPr wrap="square" lIns="0" tIns="0" rIns="0" bIns="0" rtlCol="0" anchor="t"/>
          <a:lstStyle/>
          <a:p>
            <a:pPr marL="0" indent="0">
              <a:buNone/>
            </a:pPr>
            <a:r>
              <a:rPr lang="en-US" sz="1400" dirty="0">
                <a:solidFill>
                  <a:schemeClr val="tx1"/>
                </a:solidFill>
              </a:rPr>
              <a:t>Stock is checked before and reduced after each purchase</a:t>
            </a:r>
            <a:endParaRPr lang="en-US" sz="1400" dirty="0"/>
          </a:p>
        </p:txBody>
      </p:sp>
      <p:sp>
        <p:nvSpPr>
          <p:cNvPr id="13" name="Apply OOP concepts card"/>
          <p:cNvSpPr/>
          <p:nvPr/>
        </p:nvSpPr>
        <p:spPr>
          <a:xfrm>
            <a:off x="2423160" y="2880360"/>
            <a:ext cx="3931920" cy="1371600"/>
          </a:xfrm>
          <a:prstGeom prst="roundRect">
            <a:avLst>
              <a:gd name="adj" fmla="val 6667"/>
            </a:avLst>
          </a:prstGeom>
          <a:solidFill>
            <a:schemeClr val="bg2"/>
          </a:solidFill>
          <a:ln w="12700">
            <a:solidFill>
              <a:schemeClr val="bg2"/>
            </a:solidFill>
            <a:prstDash val="solid"/>
          </a:ln>
        </p:spPr>
        <p:txBody>
          <a:bodyPr/>
          <a:lstStyle/>
          <a:p>
            <a:endParaRPr lang="en-IN" dirty="0"/>
          </a:p>
        </p:txBody>
      </p:sp>
      <p:sp>
        <p:nvSpPr>
          <p:cNvPr id="14" name="Apply OOP concepts badge"/>
          <p:cNvSpPr/>
          <p:nvPr/>
        </p:nvSpPr>
        <p:spPr>
          <a:xfrm>
            <a:off x="2591972" y="3246120"/>
            <a:ext cx="640080" cy="640080"/>
          </a:xfrm>
          <a:prstGeom prst="ellipse">
            <a:avLst/>
          </a:prstGeom>
          <a:solidFill>
            <a:schemeClr val="accent4"/>
          </a:solidFill>
          <a:ln w="12700">
            <a:solidFill>
              <a:schemeClr val="accent4"/>
            </a:solidFill>
            <a:prstDash val="solid"/>
          </a:ln>
        </p:spPr>
      </p:sp>
      <p:pic>
        <p:nvPicPr>
          <p:cNvPr id="15" name="Image 2" descr="Apply OOP concepts"/>
          <p:cNvPicPr>
            <a:picLocks noChangeAspect="1"/>
          </p:cNvPicPr>
          <p:nvPr/>
        </p:nvPicPr>
        <p:blipFill>
          <a:blip r:embed="rId5"/>
          <a:stretch>
            <a:fillRect/>
          </a:stretch>
        </p:blipFill>
        <p:spPr>
          <a:xfrm>
            <a:off x="2720340" y="3423725"/>
            <a:ext cx="320040" cy="320040"/>
          </a:xfrm>
          <a:prstGeom prst="rect">
            <a:avLst/>
          </a:prstGeom>
        </p:spPr>
      </p:pic>
      <p:sp>
        <p:nvSpPr>
          <p:cNvPr id="16" name="Apply OOP concepts heading"/>
          <p:cNvSpPr txBox="1"/>
          <p:nvPr/>
        </p:nvSpPr>
        <p:spPr>
          <a:xfrm>
            <a:off x="3321734" y="2948940"/>
            <a:ext cx="2743200" cy="41148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Apply OOP concepts</a:t>
            </a:r>
            <a:endParaRPr lang="en-US" sz="1800" dirty="0"/>
          </a:p>
        </p:txBody>
      </p:sp>
      <p:sp>
        <p:nvSpPr>
          <p:cNvPr id="17" name="Apply OOP concepts text"/>
          <p:cNvSpPr txBox="1"/>
          <p:nvPr/>
        </p:nvSpPr>
        <p:spPr>
          <a:xfrm>
            <a:off x="3383280" y="3429000"/>
            <a:ext cx="2743200" cy="640080"/>
          </a:xfrm>
          <a:prstGeom prst="rect">
            <a:avLst/>
          </a:prstGeom>
          <a:noFill/>
          <a:ln/>
        </p:spPr>
        <p:txBody>
          <a:bodyPr wrap="square" lIns="0" tIns="0" rIns="0" bIns="0" rtlCol="0" anchor="t"/>
          <a:lstStyle/>
          <a:p>
            <a:pPr marL="0" indent="0">
              <a:buNone/>
            </a:pPr>
            <a:r>
              <a:rPr lang="en-US" sz="1400" dirty="0">
                <a:solidFill>
                  <a:schemeClr val="tx1"/>
                </a:solidFill>
              </a:rPr>
              <a:t>Abstraction, inheritance, polymorphism and exceptions</a:t>
            </a:r>
            <a:endParaRPr lang="en-US" sz="1400" dirty="0"/>
          </a:p>
        </p:txBody>
      </p:sp>
      <p:sp>
        <p:nvSpPr>
          <p:cNvPr id="23" name="Scope note"/>
          <p:cNvSpPr txBox="1"/>
          <p:nvPr/>
        </p:nvSpPr>
        <p:spPr>
          <a:xfrm>
            <a:off x="457200" y="4389120"/>
            <a:ext cx="7589520" cy="365760"/>
          </a:xfrm>
          <a:prstGeom prst="rect">
            <a:avLst/>
          </a:prstGeom>
          <a:noFill/>
          <a:ln/>
        </p:spPr>
        <p:txBody>
          <a:bodyPr wrap="square" lIns="0" tIns="0" rIns="0" bIns="0" rtlCol="0" anchor="ctr"/>
          <a:lstStyle/>
          <a:p>
            <a:pPr marL="0" indent="0">
              <a:buNone/>
            </a:pPr>
            <a:r>
              <a:rPr lang="en-US" sz="1400" i="1" dirty="0">
                <a:solidFill>
                  <a:schemeClr val="accent1"/>
                </a:solidFill>
              </a:rPr>
              <a:t>Scope: products, cart, checkout and error handling. Data is kept in memory.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lide title"/>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How a purchase works</a:t>
            </a:r>
            <a:endParaRPr lang="en-US" sz="3600" dirty="0"/>
          </a:p>
        </p:txBody>
      </p:sp>
      <p:sp>
        <p:nvSpPr>
          <p:cNvPr id="3" name="Step 1 card"/>
          <p:cNvSpPr/>
          <p:nvPr/>
        </p:nvSpPr>
        <p:spPr>
          <a:xfrm>
            <a:off x="457200" y="1463040"/>
            <a:ext cx="1554480" cy="2286000"/>
          </a:xfrm>
          <a:prstGeom prst="roundRect">
            <a:avLst>
              <a:gd name="adj" fmla="val 5882"/>
            </a:avLst>
          </a:prstGeom>
          <a:solidFill>
            <a:schemeClr val="bg2"/>
          </a:solidFill>
          <a:ln w="12700">
            <a:solidFill>
              <a:schemeClr val="bg2"/>
            </a:solidFill>
            <a:prstDash val="solid"/>
          </a:ln>
        </p:spPr>
      </p:sp>
      <p:sp>
        <p:nvSpPr>
          <p:cNvPr id="4" name="Step 1 badge"/>
          <p:cNvSpPr/>
          <p:nvPr/>
        </p:nvSpPr>
        <p:spPr>
          <a:xfrm>
            <a:off x="960120" y="1645920"/>
            <a:ext cx="548640" cy="548640"/>
          </a:xfrm>
          <a:prstGeom prst="ellipse">
            <a:avLst/>
          </a:prstGeom>
          <a:solidFill>
            <a:schemeClr val="accent1"/>
          </a:solidFill>
          <a:ln w="12700">
            <a:solidFill>
              <a:schemeClr val="accent1"/>
            </a:solidFill>
            <a:prstDash val="solid"/>
          </a:ln>
        </p:spPr>
      </p:sp>
      <p:sp>
        <p:nvSpPr>
          <p:cNvPr id="5" name="Step 1 number"/>
          <p:cNvSpPr txBox="1"/>
          <p:nvPr/>
        </p:nvSpPr>
        <p:spPr>
          <a:xfrm>
            <a:off x="960120" y="16459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6" name="Step 1 title"/>
          <p:cNvSpPr txBox="1"/>
          <p:nvPr/>
        </p:nvSpPr>
        <p:spPr>
          <a:xfrm>
            <a:off x="548640" y="2331720"/>
            <a:ext cx="1371600" cy="502920"/>
          </a:xfrm>
          <a:prstGeom prst="rect">
            <a:avLst/>
          </a:prstGeom>
          <a:noFill/>
          <a:ln/>
        </p:spPr>
        <p:txBody>
          <a:bodyPr wrap="square" lIns="0" tIns="0" rIns="0" bIns="0" rtlCol="0" anchor="t"/>
          <a:lstStyle/>
          <a:p>
            <a:pPr marL="0" indent="0" algn="ctr">
              <a:buNone/>
            </a:pPr>
            <a:r>
              <a:rPr lang="en-US" sz="1600" b="1" dirty="0">
                <a:solidFill>
                  <a:schemeClr val="tx1"/>
                </a:solidFill>
                <a:latin typeface="Cambria" pitchFamily="34" charset="0"/>
                <a:ea typeface="Cambria" pitchFamily="34" charset="-122"/>
                <a:cs typeface="Cambria" pitchFamily="34" charset="-120"/>
              </a:rPr>
              <a:t>View products</a:t>
            </a:r>
            <a:endParaRPr lang="en-US" sz="1600" dirty="0"/>
          </a:p>
        </p:txBody>
      </p:sp>
      <p:sp>
        <p:nvSpPr>
          <p:cNvPr id="7" name="Step 1 detail"/>
          <p:cNvSpPr txBox="1"/>
          <p:nvPr/>
        </p:nvSpPr>
        <p:spPr>
          <a:xfrm>
            <a:off x="548640" y="2880360"/>
            <a:ext cx="1371600" cy="777240"/>
          </a:xfrm>
          <a:prstGeom prst="rect">
            <a:avLst/>
          </a:prstGeom>
          <a:noFill/>
          <a:ln/>
        </p:spPr>
        <p:txBody>
          <a:bodyPr wrap="square" lIns="0" tIns="0" rIns="0" bIns="0" rtlCol="0" anchor="t"/>
          <a:lstStyle/>
          <a:p>
            <a:pPr marL="0" indent="0" algn="ctr">
              <a:buNone/>
            </a:pPr>
            <a:r>
              <a:rPr lang="en-US" sz="1400" dirty="0">
                <a:solidFill>
                  <a:schemeClr val="accent5"/>
                </a:solidFill>
              </a:rPr>
              <a:t>Browse the 14-item catalogue</a:t>
            </a:r>
            <a:endParaRPr lang="en-US" sz="1400" dirty="0"/>
          </a:p>
        </p:txBody>
      </p:sp>
      <p:sp>
        <p:nvSpPr>
          <p:cNvPr id="8" name="Step 2 card"/>
          <p:cNvSpPr/>
          <p:nvPr/>
        </p:nvSpPr>
        <p:spPr>
          <a:xfrm>
            <a:off x="2125980" y="1463040"/>
            <a:ext cx="1554480" cy="2286000"/>
          </a:xfrm>
          <a:prstGeom prst="roundRect">
            <a:avLst>
              <a:gd name="adj" fmla="val 5882"/>
            </a:avLst>
          </a:prstGeom>
          <a:solidFill>
            <a:schemeClr val="bg2"/>
          </a:solidFill>
          <a:ln w="12700">
            <a:solidFill>
              <a:schemeClr val="bg2"/>
            </a:solidFill>
            <a:prstDash val="solid"/>
          </a:ln>
        </p:spPr>
      </p:sp>
      <p:sp>
        <p:nvSpPr>
          <p:cNvPr id="9" name="Step 2 badge"/>
          <p:cNvSpPr/>
          <p:nvPr/>
        </p:nvSpPr>
        <p:spPr>
          <a:xfrm>
            <a:off x="2628900" y="1645920"/>
            <a:ext cx="548640" cy="548640"/>
          </a:xfrm>
          <a:prstGeom prst="ellipse">
            <a:avLst/>
          </a:prstGeom>
          <a:solidFill>
            <a:schemeClr val="accent1"/>
          </a:solidFill>
          <a:ln w="12700">
            <a:solidFill>
              <a:schemeClr val="accent1"/>
            </a:solidFill>
            <a:prstDash val="solid"/>
          </a:ln>
        </p:spPr>
      </p:sp>
      <p:sp>
        <p:nvSpPr>
          <p:cNvPr id="10" name="Step 2 number"/>
          <p:cNvSpPr txBox="1"/>
          <p:nvPr/>
        </p:nvSpPr>
        <p:spPr>
          <a:xfrm>
            <a:off x="2628900" y="16459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1" name="Step 2 title"/>
          <p:cNvSpPr txBox="1"/>
          <p:nvPr/>
        </p:nvSpPr>
        <p:spPr>
          <a:xfrm>
            <a:off x="2217420" y="2331720"/>
            <a:ext cx="1371600" cy="502920"/>
          </a:xfrm>
          <a:prstGeom prst="rect">
            <a:avLst/>
          </a:prstGeom>
          <a:noFill/>
          <a:ln/>
        </p:spPr>
        <p:txBody>
          <a:bodyPr wrap="square" lIns="0" tIns="0" rIns="0" bIns="0" rtlCol="0" anchor="t"/>
          <a:lstStyle/>
          <a:p>
            <a:pPr marL="0" indent="0" algn="ctr">
              <a:buNone/>
            </a:pPr>
            <a:r>
              <a:rPr lang="en-US" sz="1600" b="1" dirty="0">
                <a:solidFill>
                  <a:schemeClr val="tx1"/>
                </a:solidFill>
                <a:latin typeface="Cambria" pitchFamily="34" charset="0"/>
                <a:ea typeface="Cambria" pitchFamily="34" charset="-122"/>
                <a:cs typeface="Cambria" pitchFamily="34" charset="-120"/>
              </a:rPr>
              <a:t>Pick item and quantity</a:t>
            </a:r>
            <a:endParaRPr lang="en-US" sz="1600" dirty="0"/>
          </a:p>
        </p:txBody>
      </p:sp>
      <p:sp>
        <p:nvSpPr>
          <p:cNvPr id="12" name="Step 2 detail"/>
          <p:cNvSpPr txBox="1"/>
          <p:nvPr/>
        </p:nvSpPr>
        <p:spPr>
          <a:xfrm>
            <a:off x="2217420" y="2880360"/>
            <a:ext cx="1371600" cy="777240"/>
          </a:xfrm>
          <a:prstGeom prst="rect">
            <a:avLst/>
          </a:prstGeom>
          <a:noFill/>
          <a:ln/>
        </p:spPr>
        <p:txBody>
          <a:bodyPr wrap="square" lIns="0" tIns="0" rIns="0" bIns="0" rtlCol="0" anchor="t"/>
          <a:lstStyle/>
          <a:p>
            <a:pPr marL="0" indent="0" algn="ctr">
              <a:buNone/>
            </a:pPr>
            <a:r>
              <a:rPr lang="en-US" sz="1400" dirty="0">
                <a:solidFill>
                  <a:schemeClr val="accent5"/>
                </a:solidFill>
              </a:rPr>
              <a:t>Choose what to buy</a:t>
            </a:r>
            <a:endParaRPr lang="en-US" sz="1400" dirty="0"/>
          </a:p>
        </p:txBody>
      </p:sp>
      <p:sp>
        <p:nvSpPr>
          <p:cNvPr id="13" name="Step 3 card"/>
          <p:cNvSpPr/>
          <p:nvPr/>
        </p:nvSpPr>
        <p:spPr>
          <a:xfrm>
            <a:off x="3794760" y="1463040"/>
            <a:ext cx="1554480" cy="2286000"/>
          </a:xfrm>
          <a:prstGeom prst="roundRect">
            <a:avLst>
              <a:gd name="adj" fmla="val 5882"/>
            </a:avLst>
          </a:prstGeom>
          <a:solidFill>
            <a:schemeClr val="bg2"/>
          </a:solidFill>
          <a:ln w="12700">
            <a:solidFill>
              <a:schemeClr val="bg2"/>
            </a:solidFill>
            <a:prstDash val="solid"/>
          </a:ln>
        </p:spPr>
      </p:sp>
      <p:sp>
        <p:nvSpPr>
          <p:cNvPr id="14" name="Step 3 badge"/>
          <p:cNvSpPr/>
          <p:nvPr/>
        </p:nvSpPr>
        <p:spPr>
          <a:xfrm>
            <a:off x="4297680" y="1645920"/>
            <a:ext cx="548640" cy="548640"/>
          </a:xfrm>
          <a:prstGeom prst="ellipse">
            <a:avLst/>
          </a:prstGeom>
          <a:solidFill>
            <a:schemeClr val="accent3"/>
          </a:solidFill>
          <a:ln w="12700">
            <a:solidFill>
              <a:schemeClr val="accent3"/>
            </a:solidFill>
            <a:prstDash val="solid"/>
          </a:ln>
        </p:spPr>
      </p:sp>
      <p:sp>
        <p:nvSpPr>
          <p:cNvPr id="15" name="Step 3 number"/>
          <p:cNvSpPr txBox="1"/>
          <p:nvPr/>
        </p:nvSpPr>
        <p:spPr>
          <a:xfrm>
            <a:off x="4297680" y="16459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6" name="Step 3 title"/>
          <p:cNvSpPr txBox="1"/>
          <p:nvPr/>
        </p:nvSpPr>
        <p:spPr>
          <a:xfrm>
            <a:off x="3886200" y="2331720"/>
            <a:ext cx="1371600" cy="502920"/>
          </a:xfrm>
          <a:prstGeom prst="rect">
            <a:avLst/>
          </a:prstGeom>
          <a:noFill/>
          <a:ln/>
        </p:spPr>
        <p:txBody>
          <a:bodyPr wrap="square" lIns="0" tIns="0" rIns="0" bIns="0" rtlCol="0" anchor="t"/>
          <a:lstStyle/>
          <a:p>
            <a:pPr marL="0" indent="0" algn="ctr">
              <a:buNone/>
            </a:pPr>
            <a:r>
              <a:rPr lang="en-US" sz="1600" b="1" dirty="0">
                <a:solidFill>
                  <a:schemeClr val="tx1"/>
                </a:solidFill>
                <a:latin typeface="Cambria" pitchFamily="34" charset="0"/>
                <a:ea typeface="Cambria" pitchFamily="34" charset="-122"/>
                <a:cs typeface="Cambria" pitchFamily="34" charset="-120"/>
              </a:rPr>
              <a:t>Validate</a:t>
            </a:r>
            <a:endParaRPr lang="en-US" sz="1600" dirty="0"/>
          </a:p>
        </p:txBody>
      </p:sp>
      <p:sp>
        <p:nvSpPr>
          <p:cNvPr id="17" name="Step 3 detail"/>
          <p:cNvSpPr txBox="1"/>
          <p:nvPr/>
        </p:nvSpPr>
        <p:spPr>
          <a:xfrm>
            <a:off x="3886200" y="2880360"/>
            <a:ext cx="1371600" cy="777240"/>
          </a:xfrm>
          <a:prstGeom prst="rect">
            <a:avLst/>
          </a:prstGeom>
          <a:noFill/>
          <a:ln/>
        </p:spPr>
        <p:txBody>
          <a:bodyPr wrap="square" lIns="0" tIns="0" rIns="0" bIns="0" rtlCol="0" anchor="t"/>
          <a:lstStyle/>
          <a:p>
            <a:pPr marL="0" indent="0" algn="ctr">
              <a:buNone/>
            </a:pPr>
            <a:r>
              <a:rPr lang="en-US" sz="1400" dirty="0">
                <a:solidFill>
                  <a:schemeClr val="accent5"/>
                </a:solidFill>
              </a:rPr>
              <a:t>Check the number and the stock</a:t>
            </a:r>
            <a:endParaRPr lang="en-US" sz="1400" dirty="0"/>
          </a:p>
        </p:txBody>
      </p:sp>
      <p:sp>
        <p:nvSpPr>
          <p:cNvPr id="18" name="Step 4 card"/>
          <p:cNvSpPr/>
          <p:nvPr/>
        </p:nvSpPr>
        <p:spPr>
          <a:xfrm>
            <a:off x="5463540" y="1463040"/>
            <a:ext cx="1554480" cy="2286000"/>
          </a:xfrm>
          <a:prstGeom prst="roundRect">
            <a:avLst>
              <a:gd name="adj" fmla="val 5882"/>
            </a:avLst>
          </a:prstGeom>
          <a:solidFill>
            <a:schemeClr val="bg2"/>
          </a:solidFill>
          <a:ln w="12700">
            <a:solidFill>
              <a:schemeClr val="bg2"/>
            </a:solidFill>
            <a:prstDash val="solid"/>
          </a:ln>
        </p:spPr>
      </p:sp>
      <p:sp>
        <p:nvSpPr>
          <p:cNvPr id="19" name="Step 4 badge"/>
          <p:cNvSpPr/>
          <p:nvPr/>
        </p:nvSpPr>
        <p:spPr>
          <a:xfrm>
            <a:off x="5966460" y="1645920"/>
            <a:ext cx="548640" cy="548640"/>
          </a:xfrm>
          <a:prstGeom prst="ellipse">
            <a:avLst/>
          </a:prstGeom>
          <a:solidFill>
            <a:schemeClr val="accent1"/>
          </a:solidFill>
          <a:ln w="12700">
            <a:solidFill>
              <a:schemeClr val="accent1"/>
            </a:solidFill>
            <a:prstDash val="solid"/>
          </a:ln>
        </p:spPr>
      </p:sp>
      <p:sp>
        <p:nvSpPr>
          <p:cNvPr id="20" name="Step 4 number"/>
          <p:cNvSpPr txBox="1"/>
          <p:nvPr/>
        </p:nvSpPr>
        <p:spPr>
          <a:xfrm>
            <a:off x="5966460" y="16459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1" name="Step 4 title"/>
          <p:cNvSpPr txBox="1"/>
          <p:nvPr/>
        </p:nvSpPr>
        <p:spPr>
          <a:xfrm>
            <a:off x="5554980" y="2331720"/>
            <a:ext cx="1371600" cy="502920"/>
          </a:xfrm>
          <a:prstGeom prst="rect">
            <a:avLst/>
          </a:prstGeom>
          <a:noFill/>
          <a:ln/>
        </p:spPr>
        <p:txBody>
          <a:bodyPr wrap="square" lIns="0" tIns="0" rIns="0" bIns="0" rtlCol="0" anchor="t"/>
          <a:lstStyle/>
          <a:p>
            <a:pPr marL="0" indent="0" algn="ctr">
              <a:buNone/>
            </a:pPr>
            <a:r>
              <a:rPr lang="en-US" sz="1600" b="1" dirty="0">
                <a:solidFill>
                  <a:schemeClr val="tx1"/>
                </a:solidFill>
                <a:latin typeface="Cambria" pitchFamily="34" charset="0"/>
                <a:ea typeface="Cambria" pitchFamily="34" charset="-122"/>
                <a:cs typeface="Cambria" pitchFamily="34" charset="-120"/>
              </a:rPr>
              <a:t>Add to cart</a:t>
            </a:r>
            <a:endParaRPr lang="en-US" sz="1600" dirty="0"/>
          </a:p>
        </p:txBody>
      </p:sp>
      <p:sp>
        <p:nvSpPr>
          <p:cNvPr id="22" name="Step 4 detail"/>
          <p:cNvSpPr txBox="1"/>
          <p:nvPr/>
        </p:nvSpPr>
        <p:spPr>
          <a:xfrm>
            <a:off x="5554980" y="2880360"/>
            <a:ext cx="1371600" cy="777240"/>
          </a:xfrm>
          <a:prstGeom prst="rect">
            <a:avLst/>
          </a:prstGeom>
          <a:noFill/>
          <a:ln/>
        </p:spPr>
        <p:txBody>
          <a:bodyPr wrap="square" lIns="0" tIns="0" rIns="0" bIns="0" rtlCol="0" anchor="t"/>
          <a:lstStyle/>
          <a:p>
            <a:pPr marL="0" indent="0" algn="ctr">
              <a:buNone/>
            </a:pPr>
            <a:r>
              <a:rPr lang="en-US" sz="1400" dirty="0">
                <a:solidFill>
                  <a:schemeClr val="accent5"/>
                </a:solidFill>
              </a:rPr>
              <a:t>The bill total updates</a:t>
            </a:r>
            <a:endParaRPr lang="en-US" sz="1400" dirty="0"/>
          </a:p>
        </p:txBody>
      </p:sp>
      <p:sp>
        <p:nvSpPr>
          <p:cNvPr id="23" name="Step 5 card"/>
          <p:cNvSpPr/>
          <p:nvPr/>
        </p:nvSpPr>
        <p:spPr>
          <a:xfrm>
            <a:off x="7132320" y="1463040"/>
            <a:ext cx="1554480" cy="2286000"/>
          </a:xfrm>
          <a:prstGeom prst="roundRect">
            <a:avLst>
              <a:gd name="adj" fmla="val 5882"/>
            </a:avLst>
          </a:prstGeom>
          <a:solidFill>
            <a:schemeClr val="bg2"/>
          </a:solidFill>
          <a:ln w="12700">
            <a:solidFill>
              <a:schemeClr val="bg2"/>
            </a:solidFill>
            <a:prstDash val="solid"/>
          </a:ln>
        </p:spPr>
      </p:sp>
      <p:sp>
        <p:nvSpPr>
          <p:cNvPr id="24" name="Step 5 badge"/>
          <p:cNvSpPr/>
          <p:nvPr/>
        </p:nvSpPr>
        <p:spPr>
          <a:xfrm>
            <a:off x="7635240" y="1645920"/>
            <a:ext cx="548640" cy="548640"/>
          </a:xfrm>
          <a:prstGeom prst="ellipse">
            <a:avLst/>
          </a:prstGeom>
          <a:solidFill>
            <a:schemeClr val="accent1"/>
          </a:solidFill>
          <a:ln w="12700">
            <a:solidFill>
              <a:schemeClr val="accent1"/>
            </a:solidFill>
            <a:prstDash val="solid"/>
          </a:ln>
        </p:spPr>
      </p:sp>
      <p:sp>
        <p:nvSpPr>
          <p:cNvPr id="25" name="Step 5 number"/>
          <p:cNvSpPr txBox="1"/>
          <p:nvPr/>
        </p:nvSpPr>
        <p:spPr>
          <a:xfrm>
            <a:off x="7635240" y="164592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6" name="Step 5 title"/>
          <p:cNvSpPr txBox="1"/>
          <p:nvPr/>
        </p:nvSpPr>
        <p:spPr>
          <a:xfrm>
            <a:off x="7223760" y="2331720"/>
            <a:ext cx="1371600" cy="502920"/>
          </a:xfrm>
          <a:prstGeom prst="rect">
            <a:avLst/>
          </a:prstGeom>
          <a:noFill/>
          <a:ln/>
        </p:spPr>
        <p:txBody>
          <a:bodyPr wrap="square" lIns="0" tIns="0" rIns="0" bIns="0" rtlCol="0" anchor="t"/>
          <a:lstStyle/>
          <a:p>
            <a:pPr marL="0" indent="0" algn="ctr">
              <a:buNone/>
            </a:pPr>
            <a:r>
              <a:rPr lang="en-US" sz="1600" b="1" dirty="0">
                <a:solidFill>
                  <a:schemeClr val="tx1"/>
                </a:solidFill>
                <a:latin typeface="Cambria" pitchFamily="34" charset="0"/>
                <a:ea typeface="Cambria" pitchFamily="34" charset="-122"/>
                <a:cs typeface="Cambria" pitchFamily="34" charset="-120"/>
              </a:rPr>
              <a:t>Checkout</a:t>
            </a:r>
            <a:endParaRPr lang="en-US" sz="1600" dirty="0"/>
          </a:p>
        </p:txBody>
      </p:sp>
      <p:sp>
        <p:nvSpPr>
          <p:cNvPr id="27" name="Step 5 detail"/>
          <p:cNvSpPr txBox="1"/>
          <p:nvPr/>
        </p:nvSpPr>
        <p:spPr>
          <a:xfrm>
            <a:off x="7223760" y="2880360"/>
            <a:ext cx="1371600" cy="777240"/>
          </a:xfrm>
          <a:prstGeom prst="rect">
            <a:avLst/>
          </a:prstGeom>
          <a:noFill/>
          <a:ln/>
        </p:spPr>
        <p:txBody>
          <a:bodyPr wrap="square" lIns="0" tIns="0" rIns="0" bIns="0" rtlCol="0" anchor="t"/>
          <a:lstStyle/>
          <a:p>
            <a:pPr marL="0" indent="0" algn="ctr">
              <a:buNone/>
            </a:pPr>
            <a:r>
              <a:rPr lang="en-US" sz="1400" dirty="0">
                <a:solidFill>
                  <a:schemeClr val="accent5"/>
                </a:solidFill>
              </a:rPr>
              <a:t>Stock is reduced, payment confirmed</a:t>
            </a:r>
            <a:endParaRPr lang="en-US" sz="1400" dirty="0"/>
          </a:p>
        </p:txBody>
      </p:sp>
      <p:sp>
        <p:nvSpPr>
          <p:cNvPr id="28" name="Flow takeaway"/>
          <p:cNvSpPr txBox="1"/>
          <p:nvPr/>
        </p:nvSpPr>
        <p:spPr>
          <a:xfrm>
            <a:off x="457200" y="4023360"/>
            <a:ext cx="8229600" cy="457200"/>
          </a:xfrm>
          <a:prstGeom prst="rect">
            <a:avLst/>
          </a:prstGeom>
          <a:noFill/>
          <a:ln/>
        </p:spPr>
        <p:txBody>
          <a:bodyPr wrap="square" lIns="0" tIns="0" rIns="0" bIns="0" rtlCol="0" anchor="ctr"/>
          <a:lstStyle/>
          <a:p>
            <a:pPr marL="0" indent="0">
              <a:buNone/>
            </a:pPr>
            <a:r>
              <a:rPr lang="en-US" sz="1600" i="1" dirty="0">
                <a:solidFill>
                  <a:schemeClr val="accent1"/>
                </a:solidFill>
              </a:rPr>
              <a:t>If a check fails, the customer sees a clear message and the program keeps running.</a:t>
            </a:r>
            <a:endParaRPr lang="en-US" sz="1600" dirty="0"/>
          </a:p>
        </p:txBody>
      </p:sp>
      <p:sp>
        <p:nvSpPr>
          <p:cNvPr id="29"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lide title"/>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Classes and their roles</a:t>
            </a:r>
            <a:endParaRPr lang="en-US" sz="3600" dirty="0"/>
          </a:p>
        </p:txBody>
      </p:sp>
      <p:graphicFrame>
        <p:nvGraphicFramePr>
          <p:cNvPr id="6" name="Classes table"/>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3291840"/>
        </p:xfrm>
        <a:graphic>
          <a:graphicData uri="http://schemas.openxmlformats.org/drawingml/2006/table">
            <a:tbl>
              <a:tblPr/>
              <a:tblGrid>
                <a:gridCol w="32918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2F6B4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2F6B4F"/>
                    </a:solidFill>
                  </a:tcPr>
                </a:tc>
                <a:extLst>
                  <a:ext uri="{0D108BD9-81ED-4DB2-BD59-A6C34878D82A}">
                    <a16:rowId xmlns:a16="http://schemas.microsoft.com/office/drawing/2014/main" val="10000"/>
                  </a:ext>
                </a:extLst>
              </a:tr>
              <a:tr h="411480">
                <a:tc>
                  <a:txBody>
                    <a:bodyPr/>
                    <a:lstStyle/>
                    <a:p>
                      <a:pPr marL="0" indent="0">
                        <a:buNone/>
                      </a:pPr>
                      <a:r>
                        <a:rPr lang="en-US" sz="1400" b="1" dirty="0">
                          <a:solidFill>
                            <a:srgbClr val="1B2A22"/>
                          </a:solidFill>
                          <a:latin typeface="Calibri" pitchFamily="34" charset="0"/>
                          <a:ea typeface="Calibri" pitchFamily="34" charset="-122"/>
                          <a:cs typeface="Calibri" pitchFamily="34" charset="-120"/>
                        </a:rPr>
                        <a:t>Purchasable</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FFFFF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Interface: price, availability and purchase()</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400" b="1" dirty="0">
                          <a:solidFill>
                            <a:srgbClr val="1B2A22"/>
                          </a:solidFill>
                          <a:latin typeface="Calibri" pitchFamily="34" charset="0"/>
                          <a:ea typeface="Calibri" pitchFamily="34" charset="-122"/>
                          <a:cs typeface="Calibri" pitchFamily="34" charset="-120"/>
                        </a:rPr>
                        <a:t>Product</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EEF2EC"/>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Abstract base class with name, price and quantity</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EEF2EC"/>
                    </a:solidFill>
                  </a:tcPr>
                </a:tc>
                <a:extLst>
                  <a:ext uri="{0D108BD9-81ED-4DB2-BD59-A6C34878D82A}">
                    <a16:rowId xmlns:a16="http://schemas.microsoft.com/office/drawing/2014/main" val="10002"/>
                  </a:ext>
                </a:extLst>
              </a:tr>
              <a:tr h="411480">
                <a:tc>
                  <a:txBody>
                    <a:bodyPr/>
                    <a:lstStyle/>
                    <a:p>
                      <a:pPr marL="0" indent="0">
                        <a:buNone/>
                      </a:pPr>
                      <a:r>
                        <a:rPr lang="en-US" sz="1400" b="1" dirty="0">
                          <a:solidFill>
                            <a:srgbClr val="1B2A22"/>
                          </a:solidFill>
                          <a:latin typeface="Calibri" pitchFamily="34" charset="0"/>
                          <a:ea typeface="Calibri" pitchFamily="34" charset="-122"/>
                          <a:cs typeface="Calibri" pitchFamily="34" charset="-120"/>
                        </a:rPr>
                        <a:t>FoodItem, BeverageItem, NonFoodItem</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FFFFF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Subclasses with their own fields and details</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400" b="1" dirty="0">
                          <a:solidFill>
                            <a:srgbClr val="1B2A22"/>
                          </a:solidFill>
                          <a:latin typeface="Calibri" pitchFamily="34" charset="0"/>
                          <a:ea typeface="Calibri" pitchFamily="34" charset="-122"/>
                          <a:cs typeface="Calibri" pitchFamily="34" charset="-120"/>
                        </a:rPr>
                        <a:t>Cart and CartItem</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EEF2EC"/>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Holds the cart lines, totals the bill, deducts stock</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EEF2EC"/>
                    </a:solidFill>
                  </a:tcPr>
                </a:tc>
                <a:extLst>
                  <a:ext uri="{0D108BD9-81ED-4DB2-BD59-A6C34878D82A}">
                    <a16:rowId xmlns:a16="http://schemas.microsoft.com/office/drawing/2014/main" val="10004"/>
                  </a:ext>
                </a:extLst>
              </a:tr>
              <a:tr h="411480">
                <a:tc>
                  <a:txBody>
                    <a:bodyPr/>
                    <a:lstStyle/>
                    <a:p>
                      <a:pPr marL="0" indent="0">
                        <a:buNone/>
                      </a:pPr>
                      <a:r>
                        <a:rPr lang="en-US" sz="1400" b="1" dirty="0">
                          <a:solidFill>
                            <a:srgbClr val="1B2A22"/>
                          </a:solidFill>
                          <a:latin typeface="Calibri" pitchFamily="34" charset="0"/>
                          <a:ea typeface="Calibri" pitchFamily="34" charset="-122"/>
                          <a:cs typeface="Calibri" pitchFamily="34" charset="-120"/>
                        </a:rPr>
                        <a:t>Customer</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FFFFF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The shopper, who owns one Cart</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1400" b="1" dirty="0">
                          <a:solidFill>
                            <a:srgbClr val="1B2A22"/>
                          </a:solidFill>
                          <a:latin typeface="Calibri" pitchFamily="34" charset="0"/>
                          <a:ea typeface="Calibri" pitchFamily="34" charset="-122"/>
                          <a:cs typeface="Calibri" pitchFamily="34" charset="-120"/>
                        </a:rPr>
                        <a:t>GroceryStore</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EEF2EC"/>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Loads 14 products and runs the console menu</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EEF2EC"/>
                    </a:solidFill>
                  </a:tcPr>
                </a:tc>
                <a:extLst>
                  <a:ext uri="{0D108BD9-81ED-4DB2-BD59-A6C34878D82A}">
                    <a16:rowId xmlns:a16="http://schemas.microsoft.com/office/drawing/2014/main" val="10006"/>
                  </a:ext>
                </a:extLst>
              </a:tr>
              <a:tr h="411480">
                <a:tc>
                  <a:txBody>
                    <a:bodyPr/>
                    <a:lstStyle/>
                    <a:p>
                      <a:pPr marL="0" indent="0">
                        <a:buNone/>
                      </a:pPr>
                      <a:r>
                        <a:rPr lang="en-US" sz="1400" b="1" dirty="0">
                          <a:solidFill>
                            <a:srgbClr val="1B2A22"/>
                          </a:solidFill>
                          <a:latin typeface="Calibri" pitchFamily="34" charset="0"/>
                          <a:ea typeface="Calibri" pitchFamily="34" charset="-122"/>
                          <a:cs typeface="Calibri" pitchFamily="34" charset="-120"/>
                        </a:rPr>
                        <a:t>GroceryWeb</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FFFFF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Serves the web page and the /api routes</a:t>
                      </a:r>
                      <a:endParaRPr lang="en-US" sz="1400" dirty="0">
                        <a:latin typeface="Calibri" charset="0"/>
                        <a:ea typeface="Calibri" charset="0"/>
                        <a:cs typeface="Calibri" charset="0"/>
                      </a:endParaRPr>
                    </a:p>
                  </a:txBody>
                  <a:tcPr anchor="ctr">
                    <a:lnL w="9525" cap="flat" cmpd="sng" algn="ctr">
                      <a:solidFill>
                        <a:srgbClr val="D5DDD3"/>
                      </a:solidFill>
                      <a:prstDash val="solid"/>
                      <a:round/>
                      <a:headEnd type="none" w="med" len="med"/>
                      <a:tailEnd type="none" w="med" len="med"/>
                    </a:lnL>
                    <a:lnR w="9525" cap="flat" cmpd="sng" algn="ctr">
                      <a:solidFill>
                        <a:srgbClr val="D5DDD3"/>
                      </a:solidFill>
                      <a:prstDash val="solid"/>
                      <a:round/>
                      <a:headEnd type="none" w="med" len="med"/>
                      <a:tailEnd type="none" w="med" len="med"/>
                    </a:lnR>
                    <a:lnT w="9525" cap="flat" cmpd="sng" algn="ctr">
                      <a:solidFill>
                        <a:srgbClr val="D5DDD3"/>
                      </a:solidFill>
                      <a:prstDash val="solid"/>
                      <a:round/>
                      <a:headEnd type="none" w="med" len="med"/>
                      <a:tailEnd type="none" w="med" len="med"/>
                    </a:lnT>
                    <a:lnB w="9525" cap="flat" cmpd="sng" algn="ctr">
                      <a:solidFill>
                        <a:srgbClr val="D5DDD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lide title"/>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Class design</a:t>
            </a:r>
            <a:endParaRPr lang="en-US" sz="3600" dirty="0"/>
          </a:p>
        </p:txBody>
      </p:sp>
      <p:pic>
        <p:nvPicPr>
          <p:cNvPr id="3" name="Image 0" descr="Class diagram overview"/>
          <p:cNvPicPr>
            <a:picLocks noChangeAspect="1"/>
          </p:cNvPicPr>
          <p:nvPr/>
        </p:nvPicPr>
        <p:blipFill>
          <a:blip r:embed="rId3"/>
          <a:srcRect t="-3175" b="-3175"/>
          <a:stretch/>
        </p:blipFill>
        <p:spPr>
          <a:xfrm>
            <a:off x="457200" y="1188720"/>
            <a:ext cx="2880360" cy="3474720"/>
          </a:xfrm>
          <a:prstGeom prst="rect">
            <a:avLst/>
          </a:prstGeom>
        </p:spPr>
      </p:pic>
      <p:sp>
        <p:nvSpPr>
          <p:cNvPr id="4" name="Relationship list"/>
          <p:cNvSpPr txBox="1"/>
          <p:nvPr/>
        </p:nvSpPr>
        <p:spPr>
          <a:xfrm>
            <a:off x="4023360" y="1280160"/>
            <a:ext cx="4663440" cy="2377440"/>
          </a:xfrm>
          <a:prstGeom prst="rect">
            <a:avLst/>
          </a:prstGeom>
          <a:noFill/>
          <a:ln/>
        </p:spPr>
        <p:txBody>
          <a:bodyPr wrap="square" lIns="0" tIns="0" rIns="0" bIns="0" rtlCol="0" anchor="t"/>
          <a:lstStyle/>
          <a:p>
            <a:pPr marL="0" indent="0">
              <a:spcAft>
                <a:spcPts val="1000"/>
              </a:spcAft>
              <a:buNone/>
            </a:pPr>
            <a:r>
              <a:rPr lang="en-US" sz="1600" b="1" dirty="0">
                <a:solidFill>
                  <a:schemeClr val="accent1"/>
                </a:solidFill>
              </a:rPr>
              <a:t>Inheritance: </a:t>
            </a:r>
            <a:r>
              <a:rPr lang="en-US" sz="1600" dirty="0">
                <a:solidFill>
                  <a:schemeClr val="tx1"/>
                </a:solidFill>
              </a:rPr>
              <a:t>Product to its three subclasses</a:t>
            </a:r>
            <a:endParaRPr lang="en-US" sz="1600" dirty="0"/>
          </a:p>
          <a:p>
            <a:pPr marL="0" indent="0">
              <a:spcAft>
                <a:spcPts val="1000"/>
              </a:spcAft>
              <a:buNone/>
            </a:pPr>
            <a:r>
              <a:rPr lang="en-US" sz="1600" b="1" dirty="0">
                <a:solidFill>
                  <a:schemeClr val="accent1"/>
                </a:solidFill>
              </a:rPr>
              <a:t>Realization: </a:t>
            </a:r>
            <a:r>
              <a:rPr lang="en-US" sz="1600" dirty="0">
                <a:solidFill>
                  <a:schemeClr val="tx1"/>
                </a:solidFill>
              </a:rPr>
              <a:t>Product implements Purchasable</a:t>
            </a:r>
            <a:endParaRPr lang="en-US" sz="1600" dirty="0"/>
          </a:p>
          <a:p>
            <a:pPr marL="0" indent="0">
              <a:spcAft>
                <a:spcPts val="1000"/>
              </a:spcAft>
              <a:buNone/>
            </a:pPr>
            <a:r>
              <a:rPr lang="en-US" sz="1600" b="1" dirty="0">
                <a:solidFill>
                  <a:schemeClr val="accent1"/>
                </a:solidFill>
              </a:rPr>
              <a:t>Composition: </a:t>
            </a:r>
            <a:r>
              <a:rPr lang="en-US" sz="1600" dirty="0">
                <a:solidFill>
                  <a:schemeClr val="tx1"/>
                </a:solidFill>
              </a:rPr>
              <a:t>Customer owns a Cart; Cart owns its CartItems</a:t>
            </a:r>
            <a:endParaRPr lang="en-US" sz="1600" dirty="0"/>
          </a:p>
          <a:p>
            <a:pPr marL="0" indent="0">
              <a:spcAft>
                <a:spcPts val="1000"/>
              </a:spcAft>
              <a:buNone/>
            </a:pPr>
            <a:r>
              <a:rPr lang="en-US" sz="1600" b="1" dirty="0">
                <a:solidFill>
                  <a:schemeClr val="accent1"/>
                </a:solidFill>
              </a:rPr>
              <a:t>Aggregation: </a:t>
            </a:r>
            <a:r>
              <a:rPr lang="en-US" sz="1600" dirty="0">
                <a:solidFill>
                  <a:schemeClr val="tx1"/>
                </a:solidFill>
              </a:rPr>
              <a:t>GroceryStore holds the Products</a:t>
            </a:r>
            <a:endParaRPr lang="en-US" sz="1600" dirty="0"/>
          </a:p>
          <a:p>
            <a:pPr marL="0" indent="0">
              <a:spcAft>
                <a:spcPts val="1000"/>
              </a:spcAft>
              <a:buNone/>
            </a:pPr>
            <a:r>
              <a:rPr lang="en-US" sz="1600" b="1" dirty="0">
                <a:solidFill>
                  <a:schemeClr val="accent1"/>
                </a:solidFill>
              </a:rPr>
              <a:t>Association: </a:t>
            </a:r>
            <a:r>
              <a:rPr lang="en-US" sz="1600" dirty="0">
                <a:solidFill>
                  <a:schemeClr val="tx1"/>
                </a:solidFill>
              </a:rPr>
              <a:t>CartItem refers to a Product</a:t>
            </a:r>
            <a:endParaRPr lang="en-US" sz="1600" dirty="0"/>
          </a:p>
        </p:txBody>
      </p:sp>
      <p:sp>
        <p:nvSpPr>
          <p:cNvPr id="5" name="UML link card"/>
          <p:cNvSpPr/>
          <p:nvPr/>
        </p:nvSpPr>
        <p:spPr>
          <a:xfrm>
            <a:off x="4023360" y="3794760"/>
            <a:ext cx="4663440" cy="685800"/>
          </a:xfrm>
          <a:prstGeom prst="roundRect">
            <a:avLst>
              <a:gd name="adj" fmla="val 13333"/>
            </a:avLst>
          </a:prstGeom>
          <a:solidFill>
            <a:schemeClr val="bg2"/>
          </a:solidFill>
          <a:ln w="12700">
            <a:solidFill>
              <a:schemeClr val="bg2"/>
            </a:solidFill>
            <a:prstDash val="solid"/>
          </a:ln>
        </p:spPr>
      </p:sp>
      <p:sp>
        <p:nvSpPr>
          <p:cNvPr id="6" name="UML link"/>
          <p:cNvSpPr txBox="1"/>
          <p:nvPr/>
        </p:nvSpPr>
        <p:spPr>
          <a:xfrm>
            <a:off x="4206240" y="3794760"/>
            <a:ext cx="4297680" cy="685800"/>
          </a:xfrm>
          <a:prstGeom prst="rect">
            <a:avLst/>
          </a:prstGeom>
          <a:noFill/>
          <a:ln/>
        </p:spPr>
        <p:txBody>
          <a:bodyPr wrap="square" lIns="0" tIns="0" rIns="0" bIns="0" rtlCol="0" anchor="ctr"/>
          <a:lstStyle/>
          <a:p>
            <a:pPr marL="0" indent="0">
              <a:buNone/>
            </a:pPr>
            <a:r>
              <a:rPr lang="en-US" sz="1400" dirty="0">
                <a:solidFill>
                  <a:schemeClr val="tx1"/>
                </a:solidFill>
              </a:rPr>
              <a:t>Full UML set on GitHub: [repository link]/uml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lide title"/>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Abstraction in code</a:t>
            </a:r>
            <a:endParaRPr lang="en-US" sz="3600" dirty="0"/>
          </a:p>
        </p:txBody>
      </p:sp>
      <p:pic>
        <p:nvPicPr>
          <p:cNvPr id="3" name="Image 0" descr="Java code snippet: Abstraction in code"/>
          <p:cNvPicPr>
            <a:picLocks noChangeAspect="1"/>
          </p:cNvPicPr>
          <p:nvPr/>
        </p:nvPicPr>
        <p:blipFill>
          <a:blip r:embed="rId3"/>
          <a:stretch>
            <a:fillRect/>
          </a:stretch>
        </p:blipFill>
        <p:spPr>
          <a:xfrm>
            <a:off x="457200" y="1234440"/>
            <a:ext cx="5303520" cy="3383280"/>
          </a:xfrm>
          <a:prstGeom prst="rect">
            <a:avLst/>
          </a:prstGeom>
        </p:spPr>
      </p:pic>
      <p:sp>
        <p:nvSpPr>
          <p:cNvPr id="4" name="Key points"/>
          <p:cNvSpPr txBox="1"/>
          <p:nvPr/>
        </p:nvSpPr>
        <p:spPr>
          <a:xfrm>
            <a:off x="6035040" y="1280160"/>
            <a:ext cx="2651760" cy="32918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Purchasable lists what anything on sale must do</a:t>
            </a:r>
            <a:endParaRPr lang="en-US" sz="1500" dirty="0"/>
          </a:p>
          <a:p>
            <a:pPr marL="342900" indent="-342900">
              <a:spcAft>
                <a:spcPts val="900"/>
              </a:spcAft>
              <a:buSzPct val="100000"/>
              <a:buChar char="•"/>
            </a:pPr>
            <a:r>
              <a:rPr lang="en-US" sz="1500" dirty="0">
                <a:solidFill>
                  <a:schemeClr val="tx1"/>
                </a:solidFill>
              </a:rPr>
              <a:t>Product is abstract, so it cannot be created directly</a:t>
            </a:r>
            <a:endParaRPr lang="en-US" sz="1500" dirty="0"/>
          </a:p>
          <a:p>
            <a:pPr marL="342900" indent="-342900">
              <a:spcAft>
                <a:spcPts val="900"/>
              </a:spcAft>
              <a:buSzPct val="100000"/>
              <a:buChar char="•"/>
            </a:pPr>
            <a:r>
              <a:rPr lang="en-US" sz="1500" dirty="0">
                <a:solidFill>
                  <a:schemeClr val="tx1"/>
                </a:solidFill>
              </a:rPr>
              <a:t>Shared fields are protected for the subclasses</a:t>
            </a:r>
            <a:endParaRPr lang="en-US" sz="1500" dirty="0"/>
          </a:p>
          <a:p>
            <a:pPr marL="342900" indent="-342900">
              <a:spcAft>
                <a:spcPts val="900"/>
              </a:spcAft>
              <a:buSzPct val="100000"/>
              <a:buChar char="•"/>
            </a:pPr>
            <a:r>
              <a:rPr lang="en-US" sz="1500" dirty="0">
                <a:solidFill>
                  <a:schemeClr val="tx1"/>
                </a:solidFill>
              </a:rPr>
              <a:t>displayDetails() forces every subclass to describe itself</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lide title"/>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Inheritance and polymorphism</a:t>
            </a:r>
            <a:endParaRPr lang="en-US" sz="3600" dirty="0"/>
          </a:p>
        </p:txBody>
      </p:sp>
      <p:pic>
        <p:nvPicPr>
          <p:cNvPr id="3" name="Image 0" descr="Java code snippet: Inheritance and polymorphism"/>
          <p:cNvPicPr>
            <a:picLocks noChangeAspect="1"/>
          </p:cNvPicPr>
          <p:nvPr/>
        </p:nvPicPr>
        <p:blipFill>
          <a:blip r:embed="rId3"/>
          <a:stretch>
            <a:fillRect/>
          </a:stretch>
        </p:blipFill>
        <p:spPr>
          <a:xfrm>
            <a:off x="457200" y="1234440"/>
            <a:ext cx="5303520" cy="3383280"/>
          </a:xfrm>
          <a:prstGeom prst="rect">
            <a:avLst/>
          </a:prstGeom>
        </p:spPr>
      </p:pic>
      <p:sp>
        <p:nvSpPr>
          <p:cNvPr id="4" name="Key points"/>
          <p:cNvSpPr txBox="1"/>
          <p:nvPr/>
        </p:nvSpPr>
        <p:spPr>
          <a:xfrm>
            <a:off x="6035040" y="1280160"/>
            <a:ext cx="2651760" cy="32918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FoodItem, BeverageItem and NonFoodItem all extend Product</a:t>
            </a:r>
            <a:endParaRPr lang="en-US" sz="1500" dirty="0"/>
          </a:p>
          <a:p>
            <a:pPr marL="342900" indent="-342900">
              <a:spcAft>
                <a:spcPts val="900"/>
              </a:spcAft>
              <a:buSzPct val="100000"/>
              <a:buChar char="•"/>
            </a:pPr>
            <a:r>
              <a:rPr lang="en-US" sz="1500" dirty="0">
                <a:solidFill>
                  <a:schemeClr val="tx1"/>
                </a:solidFill>
              </a:rPr>
              <a:t>Each one adds its own fields and overrides displayDetails()</a:t>
            </a:r>
            <a:endParaRPr lang="en-US" sz="1500" dirty="0"/>
          </a:p>
          <a:p>
            <a:pPr marL="342900" indent="-342900">
              <a:spcAft>
                <a:spcPts val="900"/>
              </a:spcAft>
              <a:buSzPct val="100000"/>
              <a:buChar char="•"/>
            </a:pPr>
            <a:r>
              <a:rPr lang="en-US" sz="1500" dirty="0">
                <a:solidFill>
                  <a:schemeClr val="tx1"/>
                </a:solidFill>
              </a:rPr>
              <a:t>The store keeps a single List of Product</a:t>
            </a:r>
            <a:endParaRPr lang="en-US" sz="1500" dirty="0"/>
          </a:p>
          <a:p>
            <a:pPr marL="342900" indent="-342900">
              <a:spcAft>
                <a:spcPts val="900"/>
              </a:spcAft>
              <a:buSzPct val="100000"/>
              <a:buChar char="•"/>
            </a:pPr>
            <a:r>
              <a:rPr lang="en-US" sz="1500" dirty="0">
                <a:solidFill>
                  <a:schemeClr val="tx1"/>
                </a:solidFill>
              </a:rPr>
              <a:t>At runtime Java calls the right version for each object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lide title"/>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Cart: add and checkout</a:t>
            </a:r>
            <a:endParaRPr lang="en-US" sz="3600" dirty="0"/>
          </a:p>
        </p:txBody>
      </p:sp>
      <p:pic>
        <p:nvPicPr>
          <p:cNvPr id="3" name="Image 0" descr="Java code snippet: Cart: add and checkout"/>
          <p:cNvPicPr>
            <a:picLocks noChangeAspect="1"/>
          </p:cNvPicPr>
          <p:nvPr/>
        </p:nvPicPr>
        <p:blipFill>
          <a:blip r:embed="rId3"/>
          <a:stretch>
            <a:fillRect/>
          </a:stretch>
        </p:blipFill>
        <p:spPr>
          <a:xfrm>
            <a:off x="457200" y="1234440"/>
            <a:ext cx="5303520" cy="3383280"/>
          </a:xfrm>
          <a:prstGeom prst="rect">
            <a:avLst/>
          </a:prstGeom>
        </p:spPr>
      </p:pic>
      <p:sp>
        <p:nvSpPr>
          <p:cNvPr id="4" name="Key points"/>
          <p:cNvSpPr txBox="1"/>
          <p:nvPr/>
        </p:nvSpPr>
        <p:spPr>
          <a:xfrm>
            <a:off x="6035040" y="1280160"/>
            <a:ext cx="2651760" cy="32918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Cart holds a List of CartItem lines: a product and a quantity</a:t>
            </a:r>
            <a:endParaRPr lang="en-US" sz="1500" dirty="0"/>
          </a:p>
          <a:p>
            <a:pPr marL="342900" indent="-342900">
              <a:spcAft>
                <a:spcPts val="900"/>
              </a:spcAft>
              <a:buSzPct val="100000"/>
              <a:buChar char="•"/>
            </a:pPr>
            <a:r>
              <a:rPr lang="en-US" sz="1500" dirty="0">
                <a:solidFill>
                  <a:schemeClr val="tx1"/>
                </a:solidFill>
              </a:rPr>
              <a:t>addItem() refuses out-of-stock products and too-large quantities</a:t>
            </a:r>
            <a:endParaRPr lang="en-US" sz="1500" dirty="0"/>
          </a:p>
          <a:p>
            <a:pPr marL="342900" indent="-342900">
              <a:spcAft>
                <a:spcPts val="900"/>
              </a:spcAft>
              <a:buSzPct val="100000"/>
              <a:buChar char="•"/>
            </a:pPr>
            <a:r>
              <a:rPr lang="en-US" sz="1500" dirty="0">
                <a:solidFill>
                  <a:schemeClr val="tx1"/>
                </a:solidFill>
              </a:rPr>
              <a:t>getTotal() sums price times quantity with a stream</a:t>
            </a:r>
            <a:endParaRPr lang="en-US" sz="1500" dirty="0"/>
          </a:p>
          <a:p>
            <a:pPr marL="342900" indent="-342900">
              <a:spcAft>
                <a:spcPts val="900"/>
              </a:spcAft>
              <a:buSzPct val="100000"/>
              <a:buChar char="•"/>
            </a:pPr>
            <a:r>
              <a:rPr lang="en-US" sz="1500" dirty="0">
                <a:solidFill>
                  <a:schemeClr val="tx1"/>
                </a:solidFill>
              </a:rPr>
              <a:t>checkout() deducts stock for each line, then empties the cart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lide title"/>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Exception handling in code</a:t>
            </a:r>
            <a:endParaRPr lang="en-US" sz="3600" dirty="0"/>
          </a:p>
        </p:txBody>
      </p:sp>
      <p:pic>
        <p:nvPicPr>
          <p:cNvPr id="3" name="Image 0" descr="Java code snippet: Exception handling in code"/>
          <p:cNvPicPr>
            <a:picLocks noChangeAspect="1"/>
          </p:cNvPicPr>
          <p:nvPr/>
        </p:nvPicPr>
        <p:blipFill>
          <a:blip r:embed="rId3"/>
          <a:stretch>
            <a:fillRect/>
          </a:stretch>
        </p:blipFill>
        <p:spPr>
          <a:xfrm>
            <a:off x="457200" y="1234440"/>
            <a:ext cx="5303520" cy="3383280"/>
          </a:xfrm>
          <a:prstGeom prst="rect">
            <a:avLst/>
          </a:prstGeom>
        </p:spPr>
      </p:pic>
      <p:sp>
        <p:nvSpPr>
          <p:cNvPr id="4" name="Key points"/>
          <p:cNvSpPr txBox="1"/>
          <p:nvPr/>
        </p:nvSpPr>
        <p:spPr>
          <a:xfrm>
            <a:off x="6035040" y="1280160"/>
            <a:ext cx="2651760" cy="32918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Product.purchase() refuses to take stock below zero</a:t>
            </a:r>
            <a:endParaRPr lang="en-US" sz="1500" dirty="0"/>
          </a:p>
          <a:p>
            <a:pPr marL="342900" indent="-342900">
              <a:spcAft>
                <a:spcPts val="900"/>
              </a:spcAft>
              <a:buSzPct val="100000"/>
              <a:buChar char="•"/>
            </a:pPr>
            <a:r>
              <a:rPr lang="en-US" sz="1500" dirty="0">
                <a:solidFill>
                  <a:schemeClr val="tx1"/>
                </a:solidFill>
              </a:rPr>
              <a:t>The menu code wraps cart actions in try-catch</a:t>
            </a:r>
            <a:endParaRPr lang="en-US" sz="1500" dirty="0"/>
          </a:p>
          <a:p>
            <a:pPr marL="342900" indent="-342900">
              <a:spcAft>
                <a:spcPts val="900"/>
              </a:spcAft>
              <a:buSzPct val="100000"/>
              <a:buChar char="•"/>
            </a:pPr>
            <a:r>
              <a:rPr lang="en-US" sz="1500" dirty="0">
                <a:solidFill>
                  <a:schemeClr val="tx1"/>
                </a:solidFill>
              </a:rPr>
              <a:t>Bad numbers and stock errors show a message</a:t>
            </a:r>
            <a:endParaRPr lang="en-US" sz="1500" dirty="0"/>
          </a:p>
          <a:p>
            <a:pPr marL="342900" indent="-342900">
              <a:spcAft>
                <a:spcPts val="900"/>
              </a:spcAft>
              <a:buSzPct val="100000"/>
              <a:buChar char="•"/>
            </a:pPr>
            <a:r>
              <a:rPr lang="en-US" sz="1500" dirty="0">
                <a:solidFill>
                  <a:schemeClr val="tx1"/>
                </a:solidFill>
              </a:rPr>
              <a:t>The program keeps running instead of crashing</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lide title"/>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Inventory and the menu</a:t>
            </a:r>
            <a:endParaRPr lang="en-US" sz="3600" dirty="0"/>
          </a:p>
        </p:txBody>
      </p:sp>
      <p:pic>
        <p:nvPicPr>
          <p:cNvPr id="3" name="Image 0" descr="Java code snippet: Inventory and the menu"/>
          <p:cNvPicPr>
            <a:picLocks noChangeAspect="1"/>
          </p:cNvPicPr>
          <p:nvPr/>
        </p:nvPicPr>
        <p:blipFill>
          <a:blip r:embed="rId3"/>
          <a:stretch>
            <a:fillRect/>
          </a:stretch>
        </p:blipFill>
        <p:spPr>
          <a:xfrm>
            <a:off x="457200" y="1234440"/>
            <a:ext cx="5303520" cy="3383280"/>
          </a:xfrm>
          <a:prstGeom prst="rect">
            <a:avLst/>
          </a:prstGeom>
        </p:spPr>
      </p:pic>
      <p:sp>
        <p:nvSpPr>
          <p:cNvPr id="4" name="Key points"/>
          <p:cNvSpPr txBox="1"/>
          <p:nvPr/>
        </p:nvSpPr>
        <p:spPr>
          <a:xfrm>
            <a:off x="6035040" y="1280160"/>
            <a:ext cx="2651760" cy="32918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GroceryStore loads 14 products into a List of Product</a:t>
            </a:r>
            <a:endParaRPr lang="en-US" sz="1500" dirty="0"/>
          </a:p>
          <a:p>
            <a:pPr marL="342900" indent="-342900">
              <a:spcAft>
                <a:spcPts val="900"/>
              </a:spcAft>
              <a:buSzPct val="100000"/>
              <a:buChar char="•"/>
            </a:pPr>
            <a:r>
              <a:rPr lang="en-US" sz="1500" dirty="0">
                <a:solidFill>
                  <a:schemeClr val="tx1"/>
                </a:solidFill>
              </a:rPr>
              <a:t>run() shows a menu and reads the choice in a loop</a:t>
            </a:r>
            <a:endParaRPr lang="en-US" sz="1500" dirty="0"/>
          </a:p>
          <a:p>
            <a:pPr marL="342900" indent="-342900">
              <a:spcAft>
                <a:spcPts val="900"/>
              </a:spcAft>
              <a:buSzPct val="100000"/>
              <a:buChar char="•"/>
            </a:pPr>
            <a:r>
              <a:rPr lang="en-US" sz="1500" dirty="0">
                <a:solidFill>
                  <a:schemeClr val="tx1"/>
                </a:solidFill>
              </a:rPr>
              <a:t>A switch sends each choice to the right method</a:t>
            </a:r>
            <a:endParaRPr lang="en-US" sz="1500" dirty="0"/>
          </a:p>
          <a:p>
            <a:pPr marL="342900" indent="-342900">
              <a:spcAft>
                <a:spcPts val="900"/>
              </a:spcAft>
              <a:buSzPct val="100000"/>
              <a:buChar char="•"/>
            </a:pPr>
            <a:r>
              <a:rPr lang="en-US" sz="1500" dirty="0">
                <a:solidFill>
                  <a:schemeClr val="tx1"/>
                </a:solidFill>
              </a:rPr>
              <a:t>Customer owns a Cart, and checkoutAndPay() prints the bill</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lide title"/>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How it was implemented</a:t>
            </a:r>
            <a:endParaRPr lang="en-US" sz="3600" dirty="0"/>
          </a:p>
        </p:txBody>
      </p:sp>
      <p:sp>
        <p:nvSpPr>
          <p:cNvPr id="3" name="Step 1 badge"/>
          <p:cNvSpPr/>
          <p:nvPr/>
        </p:nvSpPr>
        <p:spPr>
          <a:xfrm>
            <a:off x="457200" y="1234440"/>
            <a:ext cx="384048" cy="384048"/>
          </a:xfrm>
          <a:prstGeom prst="ellipse">
            <a:avLst/>
          </a:prstGeom>
          <a:solidFill>
            <a:schemeClr val="accent1"/>
          </a:solidFill>
          <a:ln w="12700">
            <a:solidFill>
              <a:schemeClr val="accent1"/>
            </a:solidFill>
            <a:prstDash val="solid"/>
          </a:ln>
        </p:spPr>
      </p:sp>
      <p:sp>
        <p:nvSpPr>
          <p:cNvPr id="4" name="Step 1 number"/>
          <p:cNvSpPr txBox="1"/>
          <p:nvPr/>
        </p:nvSpPr>
        <p:spPr>
          <a:xfrm>
            <a:off x="457200" y="1234440"/>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Step 1 text"/>
          <p:cNvSpPr txBox="1"/>
          <p:nvPr/>
        </p:nvSpPr>
        <p:spPr>
          <a:xfrm>
            <a:off x="1005840" y="1234440"/>
            <a:ext cx="7680960" cy="384048"/>
          </a:xfrm>
          <a:prstGeom prst="rect">
            <a:avLst/>
          </a:prstGeom>
          <a:noFill/>
          <a:ln/>
        </p:spPr>
        <p:txBody>
          <a:bodyPr wrap="square" lIns="0" tIns="0" rIns="0" bIns="0" rtlCol="0" anchor="ctr"/>
          <a:lstStyle/>
          <a:p>
            <a:pPr marL="0" indent="0">
              <a:buNone/>
            </a:pPr>
            <a:r>
              <a:rPr lang="en-US" sz="1800" dirty="0">
                <a:solidFill>
                  <a:schemeClr val="tx1"/>
                </a:solidFill>
              </a:rPr>
              <a:t>Model the products: Purchasable and abstract Product</a:t>
            </a:r>
            <a:endParaRPr lang="en-US" sz="1800" dirty="0"/>
          </a:p>
        </p:txBody>
      </p:sp>
      <p:sp>
        <p:nvSpPr>
          <p:cNvPr id="6" name="Step 2 badge"/>
          <p:cNvSpPr/>
          <p:nvPr/>
        </p:nvSpPr>
        <p:spPr>
          <a:xfrm>
            <a:off x="457200" y="1709928"/>
            <a:ext cx="384048" cy="384048"/>
          </a:xfrm>
          <a:prstGeom prst="ellipse">
            <a:avLst/>
          </a:prstGeom>
          <a:solidFill>
            <a:schemeClr val="accent1"/>
          </a:solidFill>
          <a:ln w="12700">
            <a:solidFill>
              <a:schemeClr val="accent1"/>
            </a:solidFill>
            <a:prstDash val="solid"/>
          </a:ln>
        </p:spPr>
      </p:sp>
      <p:sp>
        <p:nvSpPr>
          <p:cNvPr id="7" name="Step 2 number"/>
          <p:cNvSpPr txBox="1"/>
          <p:nvPr/>
        </p:nvSpPr>
        <p:spPr>
          <a:xfrm>
            <a:off x="457200" y="1709928"/>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8" name="Step 2 text"/>
          <p:cNvSpPr txBox="1"/>
          <p:nvPr/>
        </p:nvSpPr>
        <p:spPr>
          <a:xfrm>
            <a:off x="1005840" y="1709928"/>
            <a:ext cx="7680960" cy="384048"/>
          </a:xfrm>
          <a:prstGeom prst="rect">
            <a:avLst/>
          </a:prstGeom>
          <a:noFill/>
          <a:ln/>
        </p:spPr>
        <p:txBody>
          <a:bodyPr wrap="square" lIns="0" tIns="0" rIns="0" bIns="0" rtlCol="0" anchor="ctr"/>
          <a:lstStyle/>
          <a:p>
            <a:pPr marL="0" indent="0">
              <a:buNone/>
            </a:pPr>
            <a:r>
              <a:rPr lang="en-US" sz="1800" dirty="0">
                <a:solidFill>
                  <a:schemeClr val="tx1"/>
                </a:solidFill>
              </a:rPr>
              <a:t>Extend them: FoodItem, BeverageItem, NonFoodItem</a:t>
            </a:r>
            <a:endParaRPr lang="en-US" sz="1800" dirty="0"/>
          </a:p>
        </p:txBody>
      </p:sp>
      <p:sp>
        <p:nvSpPr>
          <p:cNvPr id="9" name="Step 3 badge"/>
          <p:cNvSpPr/>
          <p:nvPr/>
        </p:nvSpPr>
        <p:spPr>
          <a:xfrm>
            <a:off x="457200" y="2185416"/>
            <a:ext cx="384048" cy="384048"/>
          </a:xfrm>
          <a:prstGeom prst="ellipse">
            <a:avLst/>
          </a:prstGeom>
          <a:solidFill>
            <a:schemeClr val="accent1"/>
          </a:solidFill>
          <a:ln w="12700">
            <a:solidFill>
              <a:schemeClr val="accent1"/>
            </a:solidFill>
            <a:prstDash val="solid"/>
          </a:ln>
        </p:spPr>
      </p:sp>
      <p:sp>
        <p:nvSpPr>
          <p:cNvPr id="10" name="Step 3 number"/>
          <p:cNvSpPr txBox="1"/>
          <p:nvPr/>
        </p:nvSpPr>
        <p:spPr>
          <a:xfrm>
            <a:off x="457200" y="2185416"/>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1" name="Step 3 text"/>
          <p:cNvSpPr txBox="1"/>
          <p:nvPr/>
        </p:nvSpPr>
        <p:spPr>
          <a:xfrm>
            <a:off x="1005840" y="2185416"/>
            <a:ext cx="7680960" cy="384048"/>
          </a:xfrm>
          <a:prstGeom prst="rect">
            <a:avLst/>
          </a:prstGeom>
          <a:noFill/>
          <a:ln/>
        </p:spPr>
        <p:txBody>
          <a:bodyPr wrap="square" lIns="0" tIns="0" rIns="0" bIns="0" rtlCol="0" anchor="ctr"/>
          <a:lstStyle/>
          <a:p>
            <a:pPr marL="0" indent="0">
              <a:buNone/>
            </a:pPr>
            <a:r>
              <a:rPr lang="en-US" sz="1800" dirty="0">
                <a:solidFill>
                  <a:schemeClr val="tx1"/>
                </a:solidFill>
              </a:rPr>
              <a:t>Shopping logic: Cart, CartItem and Customer</a:t>
            </a:r>
            <a:endParaRPr lang="en-US" sz="1800" dirty="0"/>
          </a:p>
        </p:txBody>
      </p:sp>
      <p:sp>
        <p:nvSpPr>
          <p:cNvPr id="12" name="Step 4 badge"/>
          <p:cNvSpPr/>
          <p:nvPr/>
        </p:nvSpPr>
        <p:spPr>
          <a:xfrm>
            <a:off x="457200" y="2660904"/>
            <a:ext cx="384048" cy="384048"/>
          </a:xfrm>
          <a:prstGeom prst="ellipse">
            <a:avLst/>
          </a:prstGeom>
          <a:solidFill>
            <a:schemeClr val="accent1"/>
          </a:solidFill>
          <a:ln w="12700">
            <a:solidFill>
              <a:schemeClr val="accent1"/>
            </a:solidFill>
            <a:prstDash val="solid"/>
          </a:ln>
        </p:spPr>
      </p:sp>
      <p:sp>
        <p:nvSpPr>
          <p:cNvPr id="13" name="Step 4 number"/>
          <p:cNvSpPr txBox="1"/>
          <p:nvPr/>
        </p:nvSpPr>
        <p:spPr>
          <a:xfrm>
            <a:off x="457200" y="2660904"/>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4" name="Step 4 text"/>
          <p:cNvSpPr txBox="1"/>
          <p:nvPr/>
        </p:nvSpPr>
        <p:spPr>
          <a:xfrm>
            <a:off x="1005840" y="2660904"/>
            <a:ext cx="7680960" cy="384048"/>
          </a:xfrm>
          <a:prstGeom prst="rect">
            <a:avLst/>
          </a:prstGeom>
          <a:noFill/>
          <a:ln/>
        </p:spPr>
        <p:txBody>
          <a:bodyPr wrap="square" lIns="0" tIns="0" rIns="0" bIns="0" rtlCol="0" anchor="ctr"/>
          <a:lstStyle/>
          <a:p>
            <a:pPr marL="0" indent="0">
              <a:buNone/>
            </a:pPr>
            <a:r>
              <a:rPr lang="en-US" sz="1800" dirty="0">
                <a:solidFill>
                  <a:schemeClr val="tx1"/>
                </a:solidFill>
              </a:rPr>
              <a:t>Controller: GroceryStore loads products and runs the menu</a:t>
            </a:r>
            <a:endParaRPr lang="en-US" sz="1800" dirty="0"/>
          </a:p>
        </p:txBody>
      </p:sp>
      <p:sp>
        <p:nvSpPr>
          <p:cNvPr id="15" name="Step 5 badge"/>
          <p:cNvSpPr/>
          <p:nvPr/>
        </p:nvSpPr>
        <p:spPr>
          <a:xfrm>
            <a:off x="457200" y="3136392"/>
            <a:ext cx="384048" cy="384048"/>
          </a:xfrm>
          <a:prstGeom prst="ellipse">
            <a:avLst/>
          </a:prstGeom>
          <a:solidFill>
            <a:schemeClr val="accent3"/>
          </a:solidFill>
          <a:ln w="12700">
            <a:solidFill>
              <a:schemeClr val="accent3"/>
            </a:solidFill>
            <a:prstDash val="solid"/>
          </a:ln>
        </p:spPr>
      </p:sp>
      <p:sp>
        <p:nvSpPr>
          <p:cNvPr id="16" name="Step 5 number"/>
          <p:cNvSpPr txBox="1"/>
          <p:nvPr/>
        </p:nvSpPr>
        <p:spPr>
          <a:xfrm>
            <a:off x="457200" y="3136392"/>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17" name="Step 5 text"/>
          <p:cNvSpPr txBox="1"/>
          <p:nvPr/>
        </p:nvSpPr>
        <p:spPr>
          <a:xfrm>
            <a:off x="1005840" y="3136392"/>
            <a:ext cx="7680960" cy="384048"/>
          </a:xfrm>
          <a:prstGeom prst="rect">
            <a:avLst/>
          </a:prstGeom>
          <a:noFill/>
          <a:ln/>
        </p:spPr>
        <p:txBody>
          <a:bodyPr wrap="square" lIns="0" tIns="0" rIns="0" bIns="0" rtlCol="0" anchor="ctr"/>
          <a:lstStyle/>
          <a:p>
            <a:pPr marL="0" indent="0">
              <a:buNone/>
            </a:pPr>
            <a:r>
              <a:rPr lang="en-US" sz="1800" dirty="0">
                <a:solidFill>
                  <a:schemeClr val="tx1"/>
                </a:solidFill>
              </a:rPr>
              <a:t>Safety: input and stock checks with exceptions</a:t>
            </a:r>
            <a:endParaRPr lang="en-US" sz="1800" dirty="0"/>
          </a:p>
        </p:txBody>
      </p:sp>
      <p:sp>
        <p:nvSpPr>
          <p:cNvPr id="18" name="Step 6 badge"/>
          <p:cNvSpPr/>
          <p:nvPr/>
        </p:nvSpPr>
        <p:spPr>
          <a:xfrm>
            <a:off x="457200" y="3611880"/>
            <a:ext cx="384048" cy="384048"/>
          </a:xfrm>
          <a:prstGeom prst="ellipse">
            <a:avLst/>
          </a:prstGeom>
          <a:solidFill>
            <a:schemeClr val="accent1"/>
          </a:solidFill>
          <a:ln w="12700">
            <a:solidFill>
              <a:schemeClr val="accent1"/>
            </a:solidFill>
            <a:prstDash val="solid"/>
          </a:ln>
        </p:spPr>
      </p:sp>
      <p:sp>
        <p:nvSpPr>
          <p:cNvPr id="19" name="Step 6 number"/>
          <p:cNvSpPr txBox="1"/>
          <p:nvPr/>
        </p:nvSpPr>
        <p:spPr>
          <a:xfrm>
            <a:off x="457200" y="3611880"/>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0" name="Step 6 text"/>
          <p:cNvSpPr txBox="1"/>
          <p:nvPr/>
        </p:nvSpPr>
        <p:spPr>
          <a:xfrm>
            <a:off x="1005840" y="3611880"/>
            <a:ext cx="7680960" cy="384048"/>
          </a:xfrm>
          <a:prstGeom prst="rect">
            <a:avLst/>
          </a:prstGeom>
          <a:noFill/>
          <a:ln/>
        </p:spPr>
        <p:txBody>
          <a:bodyPr wrap="square" lIns="0" tIns="0" rIns="0" bIns="0" rtlCol="0" anchor="ctr"/>
          <a:lstStyle/>
          <a:p>
            <a:pPr marL="0" indent="0">
              <a:buNone/>
            </a:pPr>
            <a:r>
              <a:rPr lang="en-US" sz="1800" dirty="0">
                <a:solidFill>
                  <a:schemeClr val="tx1"/>
                </a:solidFill>
              </a:rPr>
              <a:t>Website: GroceryWeb and index.html reuse the same classes</a:t>
            </a:r>
            <a:endParaRPr lang="en-US" sz="1800" dirty="0"/>
          </a:p>
        </p:txBody>
      </p:sp>
      <p:sp>
        <p:nvSpPr>
          <p:cNvPr id="21" name="Step 7 badge"/>
          <p:cNvSpPr/>
          <p:nvPr/>
        </p:nvSpPr>
        <p:spPr>
          <a:xfrm>
            <a:off x="457200" y="4087368"/>
            <a:ext cx="384048" cy="384048"/>
          </a:xfrm>
          <a:prstGeom prst="ellipse">
            <a:avLst/>
          </a:prstGeom>
          <a:solidFill>
            <a:schemeClr val="accent1"/>
          </a:solidFill>
          <a:ln w="12700">
            <a:solidFill>
              <a:schemeClr val="accent1"/>
            </a:solidFill>
            <a:prstDash val="solid"/>
          </a:ln>
        </p:spPr>
      </p:sp>
      <p:sp>
        <p:nvSpPr>
          <p:cNvPr id="22" name="Step 7 number"/>
          <p:cNvSpPr txBox="1"/>
          <p:nvPr/>
        </p:nvSpPr>
        <p:spPr>
          <a:xfrm>
            <a:off x="457200" y="4087368"/>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7</a:t>
            </a:r>
            <a:endParaRPr lang="en-US" sz="1600" dirty="0"/>
          </a:p>
        </p:txBody>
      </p:sp>
      <p:sp>
        <p:nvSpPr>
          <p:cNvPr id="23" name="Step 7 text"/>
          <p:cNvSpPr txBox="1"/>
          <p:nvPr/>
        </p:nvSpPr>
        <p:spPr>
          <a:xfrm>
            <a:off x="1005840" y="4087368"/>
            <a:ext cx="7680960" cy="384048"/>
          </a:xfrm>
          <a:prstGeom prst="rect">
            <a:avLst/>
          </a:prstGeom>
          <a:noFill/>
          <a:ln/>
        </p:spPr>
        <p:txBody>
          <a:bodyPr wrap="square" lIns="0" tIns="0" rIns="0" bIns="0" rtlCol="0" anchor="ctr"/>
          <a:lstStyle/>
          <a:p>
            <a:pPr marL="0" indent="0">
              <a:buNone/>
            </a:pPr>
            <a:r>
              <a:rPr lang="en-US" sz="1800" dirty="0">
                <a:solidFill>
                  <a:schemeClr val="tx1"/>
                </a:solidFill>
              </a:rPr>
              <a:t>Documentation: five UML diagrams, report and 9 website tests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lide title"/>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Validation and testing</a:t>
            </a:r>
            <a:endParaRPr lang="en-US" sz="3600" dirty="0"/>
          </a:p>
        </p:txBody>
      </p:sp>
      <p:sp>
        <p:nvSpPr>
          <p:cNvPr id="3" name="Checks card"/>
          <p:cNvSpPr/>
          <p:nvPr/>
        </p:nvSpPr>
        <p:spPr>
          <a:xfrm>
            <a:off x="457200" y="1280160"/>
            <a:ext cx="5120640" cy="3108960"/>
          </a:xfrm>
          <a:prstGeom prst="roundRect">
            <a:avLst>
              <a:gd name="adj" fmla="val 2941"/>
            </a:avLst>
          </a:prstGeom>
          <a:solidFill>
            <a:schemeClr val="bg2"/>
          </a:solidFill>
          <a:ln w="12700">
            <a:solidFill>
              <a:schemeClr val="bg2"/>
            </a:solidFill>
            <a:prstDash val="solid"/>
          </a:ln>
        </p:spPr>
      </p:sp>
      <p:sp>
        <p:nvSpPr>
          <p:cNvPr id="4" name="Checks list"/>
          <p:cNvSpPr txBox="1"/>
          <p:nvPr/>
        </p:nvSpPr>
        <p:spPr>
          <a:xfrm>
            <a:off x="731520" y="1417320"/>
            <a:ext cx="4572000" cy="2834640"/>
          </a:xfrm>
          <a:prstGeom prst="rect">
            <a:avLst/>
          </a:prstGeom>
          <a:noFill/>
          <a:ln/>
        </p:spPr>
        <p:txBody>
          <a:bodyPr wrap="square" lIns="0" tIns="0" rIns="0" bIns="0" rtlCol="0" anchor="ctr"/>
          <a:lstStyle/>
          <a:p>
            <a:pPr marL="0" indent="0">
              <a:spcAft>
                <a:spcPts val="800"/>
              </a:spcAft>
              <a:buNone/>
            </a:pPr>
            <a:r>
              <a:rPr lang="en-US" sz="1800" b="1" dirty="0">
                <a:solidFill>
                  <a:schemeClr val="tx1"/>
                </a:solidFill>
                <a:latin typeface="Cambria" pitchFamily="34" charset="0"/>
                <a:ea typeface="Cambria" pitchFamily="34" charset="-122"/>
                <a:cs typeface="Cambria" pitchFamily="34" charset="-120"/>
              </a:rPr>
              <a:t>Checks before a purchase</a:t>
            </a:r>
            <a:endParaRPr lang="en-US" sz="1600" dirty="0"/>
          </a:p>
          <a:p>
            <a:pPr marL="342900" indent="-342900">
              <a:spcAft>
                <a:spcPts val="800"/>
              </a:spcAft>
              <a:buSzPct val="100000"/>
              <a:buChar char="•"/>
            </a:pPr>
            <a:r>
              <a:rPr lang="en-US" sz="1600" dirty="0">
                <a:solidFill>
                  <a:schemeClr val="tx1"/>
                </a:solidFill>
              </a:rPr>
              <a:t>The quantity is a valid number</a:t>
            </a:r>
            <a:endParaRPr lang="en-US" sz="1600" dirty="0"/>
          </a:p>
          <a:p>
            <a:pPr marL="342900" indent="-342900">
              <a:spcAft>
                <a:spcPts val="800"/>
              </a:spcAft>
              <a:buSzPct val="100000"/>
              <a:buChar char="•"/>
            </a:pPr>
            <a:r>
              <a:rPr lang="en-US" sz="1600" dirty="0">
                <a:solidFill>
                  <a:schemeClr val="tx1"/>
                </a:solidFill>
              </a:rPr>
              <a:t>The quantity is at least 1</a:t>
            </a:r>
            <a:endParaRPr lang="en-US" sz="1600" dirty="0"/>
          </a:p>
          <a:p>
            <a:pPr marL="342900" indent="-342900">
              <a:spcAft>
                <a:spcPts val="800"/>
              </a:spcAft>
              <a:buSzPct val="100000"/>
              <a:buChar char="•"/>
            </a:pPr>
            <a:r>
              <a:rPr lang="en-US" sz="1600" dirty="0">
                <a:solidFill>
                  <a:schemeClr val="tx1"/>
                </a:solidFill>
              </a:rPr>
              <a:t>The product is in stock</a:t>
            </a:r>
            <a:endParaRPr lang="en-US" sz="1600" dirty="0"/>
          </a:p>
          <a:p>
            <a:pPr marL="342900" indent="-342900">
              <a:spcAft>
                <a:spcPts val="800"/>
              </a:spcAft>
              <a:buSzPct val="100000"/>
              <a:buChar char="•"/>
            </a:pPr>
            <a:r>
              <a:rPr lang="en-US" sz="1600" dirty="0">
                <a:solidFill>
                  <a:schemeClr val="tx1"/>
                </a:solidFill>
              </a:rPr>
              <a:t>The cart total stays within stock</a:t>
            </a:r>
            <a:endParaRPr lang="en-US" sz="1600" dirty="0"/>
          </a:p>
          <a:p>
            <a:pPr marL="342900" indent="-342900">
              <a:spcAft>
                <a:spcPts val="800"/>
              </a:spcAft>
              <a:buSzPct val="100000"/>
              <a:buChar char="•"/>
            </a:pPr>
            <a:r>
              <a:rPr lang="en-US" sz="1600" dirty="0">
                <a:solidFill>
                  <a:schemeClr val="tx1"/>
                </a:solidFill>
              </a:rPr>
              <a:t>Stock is checked again at checkout</a:t>
            </a:r>
            <a:endParaRPr lang="en-US" sz="1600" dirty="0"/>
          </a:p>
        </p:txBody>
      </p:sp>
      <p:sp>
        <p:nvSpPr>
          <p:cNvPr id="5" name="Test stat card"/>
          <p:cNvSpPr/>
          <p:nvPr/>
        </p:nvSpPr>
        <p:spPr>
          <a:xfrm>
            <a:off x="5852160" y="1280160"/>
            <a:ext cx="2834640" cy="3108960"/>
          </a:xfrm>
          <a:prstGeom prst="roundRect">
            <a:avLst>
              <a:gd name="adj" fmla="val 3226"/>
            </a:avLst>
          </a:prstGeom>
          <a:solidFill>
            <a:schemeClr val="accent1"/>
          </a:solidFill>
          <a:ln w="12700">
            <a:solidFill>
              <a:schemeClr val="accent1"/>
            </a:solidFill>
            <a:prstDash val="solid"/>
          </a:ln>
        </p:spPr>
      </p:sp>
      <p:sp>
        <p:nvSpPr>
          <p:cNvPr id="6" name="Test count"/>
          <p:cNvSpPr txBox="1"/>
          <p:nvPr/>
        </p:nvSpPr>
        <p:spPr>
          <a:xfrm>
            <a:off x="5852160" y="1645920"/>
            <a:ext cx="2834640" cy="1280160"/>
          </a:xfrm>
          <a:prstGeom prst="rect">
            <a:avLst/>
          </a:prstGeom>
          <a:noFill/>
          <a:ln/>
        </p:spPr>
        <p:txBody>
          <a:bodyPr wrap="square" lIns="0" tIns="0" rIns="0" bIns="0" rtlCol="0" anchor="ctr"/>
          <a:lstStyle/>
          <a:p>
            <a:pPr marL="0" indent="0" algn="ctr">
              <a:buNone/>
            </a:pPr>
            <a:r>
              <a:rPr lang="en-US" sz="8000" b="1" dirty="0">
                <a:solidFill>
                  <a:schemeClr val="bg1"/>
                </a:solidFill>
                <a:latin typeface="Cambria" pitchFamily="34" charset="0"/>
                <a:ea typeface="Cambria" pitchFamily="34" charset="-122"/>
                <a:cs typeface="Cambria" pitchFamily="34" charset="-120"/>
              </a:rPr>
              <a:t>9</a:t>
            </a:r>
            <a:endParaRPr lang="en-US" sz="8000" dirty="0"/>
          </a:p>
        </p:txBody>
      </p:sp>
      <p:sp>
        <p:nvSpPr>
          <p:cNvPr id="7" name="Test label"/>
          <p:cNvSpPr txBox="1"/>
          <p:nvPr/>
        </p:nvSpPr>
        <p:spPr>
          <a:xfrm>
            <a:off x="6035040" y="3017520"/>
            <a:ext cx="2468880" cy="822960"/>
          </a:xfrm>
          <a:prstGeom prst="rect">
            <a:avLst/>
          </a:prstGeom>
          <a:noFill/>
          <a:ln/>
        </p:spPr>
        <p:txBody>
          <a:bodyPr wrap="square" lIns="0" tIns="0" rIns="0" bIns="0" rtlCol="0" anchor="t"/>
          <a:lstStyle/>
          <a:p>
            <a:pPr marL="0" indent="0" algn="ctr">
              <a:buNone/>
            </a:pPr>
            <a:r>
              <a:rPr lang="en-US" sz="1600" dirty="0">
                <a:solidFill>
                  <a:schemeClr val="bg1"/>
                </a:solidFill>
              </a:rPr>
              <a:t>website test cases passed</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lide title"/>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chemeClr val="tx1"/>
                </a:solidFill>
                <a:latin typeface="Cambria" pitchFamily="34" charset="0"/>
                <a:ea typeface="Cambria" pitchFamily="34" charset="-122"/>
                <a:cs typeface="Cambria" pitchFamily="34" charset="-120"/>
              </a:rPr>
              <a:t>Live demo on the laptop</a:t>
            </a:r>
            <a:endParaRPr lang="en-US" sz="3600" dirty="0"/>
          </a:p>
        </p:txBody>
      </p:sp>
      <p:sp>
        <p:nvSpPr>
          <p:cNvPr id="3" name="Browser box"/>
          <p:cNvSpPr/>
          <p:nvPr/>
        </p:nvSpPr>
        <p:spPr>
          <a:xfrm>
            <a:off x="457200" y="1325880"/>
            <a:ext cx="2286000" cy="1097280"/>
          </a:xfrm>
          <a:prstGeom prst="roundRect">
            <a:avLst>
              <a:gd name="adj" fmla="val 8333"/>
            </a:avLst>
          </a:prstGeom>
          <a:solidFill>
            <a:schemeClr val="bg2"/>
          </a:solidFill>
          <a:ln w="15875">
            <a:solidFill>
              <a:schemeClr val="accent1"/>
            </a:solidFill>
            <a:prstDash val="solid"/>
          </a:ln>
        </p:spPr>
      </p:sp>
      <p:sp>
        <p:nvSpPr>
          <p:cNvPr id="4" name="Browser label"/>
          <p:cNvSpPr txBox="1"/>
          <p:nvPr/>
        </p:nvSpPr>
        <p:spPr>
          <a:xfrm>
            <a:off x="548640" y="1325880"/>
            <a:ext cx="2103120" cy="109728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Browser</a:t>
            </a:r>
            <a:endParaRPr lang="en-US" sz="1800" dirty="0"/>
          </a:p>
          <a:p>
            <a:pPr marL="0" indent="0" algn="ctr">
              <a:buNone/>
            </a:pPr>
            <a:r>
              <a:rPr lang="en-US" sz="1400" dirty="0">
                <a:solidFill>
                  <a:schemeClr val="tx1"/>
                </a:solidFill>
              </a:rPr>
              <a:t>index.html and JavaScript</a:t>
            </a:r>
            <a:endParaRPr lang="en-US" sz="1800" dirty="0"/>
          </a:p>
        </p:txBody>
      </p:sp>
      <p:sp>
        <p:nvSpPr>
          <p:cNvPr id="5" name="Arrow 1"/>
          <p:cNvSpPr/>
          <p:nvPr/>
        </p:nvSpPr>
        <p:spPr>
          <a:xfrm>
            <a:off x="2788920" y="1874520"/>
            <a:ext cx="594360" cy="0"/>
          </a:xfrm>
          <a:prstGeom prst="line">
            <a:avLst/>
          </a:prstGeom>
          <a:noFill/>
          <a:ln w="25400">
            <a:solidFill>
              <a:schemeClr val="tx1"/>
            </a:solidFill>
            <a:prstDash val="solid"/>
            <a:tailEnd type="triangle"/>
          </a:ln>
        </p:spPr>
      </p:sp>
      <p:sp>
        <p:nvSpPr>
          <p:cNvPr id="6" name="GroceryWeb box"/>
          <p:cNvSpPr/>
          <p:nvPr/>
        </p:nvSpPr>
        <p:spPr>
          <a:xfrm>
            <a:off x="3429000" y="1325880"/>
            <a:ext cx="2286000" cy="1097280"/>
          </a:xfrm>
          <a:prstGeom prst="roundRect">
            <a:avLst>
              <a:gd name="adj" fmla="val 8333"/>
            </a:avLst>
          </a:prstGeom>
          <a:solidFill>
            <a:schemeClr val="accent1"/>
          </a:solidFill>
          <a:ln w="15875">
            <a:solidFill>
              <a:schemeClr val="accent1"/>
            </a:solidFill>
            <a:prstDash val="solid"/>
          </a:ln>
        </p:spPr>
      </p:sp>
      <p:sp>
        <p:nvSpPr>
          <p:cNvPr id="7" name="GroceryWeb label"/>
          <p:cNvSpPr txBox="1"/>
          <p:nvPr/>
        </p:nvSpPr>
        <p:spPr>
          <a:xfrm>
            <a:off x="3520440" y="1325880"/>
            <a:ext cx="2103120" cy="1097280"/>
          </a:xfrm>
          <a:prstGeom prst="rect">
            <a:avLst/>
          </a:prstGeom>
          <a:noFill/>
          <a:ln/>
        </p:spPr>
        <p:txBody>
          <a:bodyPr wrap="square" lIns="0" tIns="0" rIns="0" bIns="0" rtlCol="0" anchor="ctr"/>
          <a:lstStyle/>
          <a:p>
            <a:pPr marL="0" indent="0" algn="ctr">
              <a:buNone/>
            </a:pPr>
            <a:r>
              <a:rPr lang="en-US" sz="1800" b="1" dirty="0">
                <a:solidFill>
                  <a:schemeClr val="bg1"/>
                </a:solidFill>
                <a:latin typeface="Cambria" pitchFamily="34" charset="0"/>
                <a:ea typeface="Cambria" pitchFamily="34" charset="-122"/>
                <a:cs typeface="Cambria" pitchFamily="34" charset="-120"/>
              </a:rPr>
              <a:t>GroceryWeb</a:t>
            </a:r>
            <a:endParaRPr lang="en-US" sz="1800" dirty="0"/>
          </a:p>
          <a:p>
            <a:pPr marL="0" indent="0" algn="ctr">
              <a:buNone/>
            </a:pPr>
            <a:r>
              <a:rPr lang="en-US" sz="1400" dirty="0">
                <a:solidFill>
                  <a:schemeClr val="bg1"/>
                </a:solidFill>
              </a:rPr>
              <a:t>Java HttpServer, /api routes</a:t>
            </a:r>
            <a:endParaRPr lang="en-US" sz="1800" dirty="0"/>
          </a:p>
        </p:txBody>
      </p:sp>
      <p:sp>
        <p:nvSpPr>
          <p:cNvPr id="8" name="Arrow 2"/>
          <p:cNvSpPr/>
          <p:nvPr/>
        </p:nvSpPr>
        <p:spPr>
          <a:xfrm>
            <a:off x="5760720" y="1874520"/>
            <a:ext cx="594360" cy="0"/>
          </a:xfrm>
          <a:prstGeom prst="line">
            <a:avLst/>
          </a:prstGeom>
          <a:noFill/>
          <a:ln w="25400">
            <a:solidFill>
              <a:schemeClr val="tx1"/>
            </a:solidFill>
            <a:prstDash val="solid"/>
            <a:tailEnd type="triangle"/>
          </a:ln>
        </p:spPr>
      </p:sp>
      <p:sp>
        <p:nvSpPr>
          <p:cNvPr id="9" name="GroceryStore box"/>
          <p:cNvSpPr/>
          <p:nvPr/>
        </p:nvSpPr>
        <p:spPr>
          <a:xfrm>
            <a:off x="6400800" y="1325880"/>
            <a:ext cx="2286000" cy="1097280"/>
          </a:xfrm>
          <a:prstGeom prst="roundRect">
            <a:avLst>
              <a:gd name="adj" fmla="val 8333"/>
            </a:avLst>
          </a:prstGeom>
          <a:solidFill>
            <a:schemeClr val="bg2"/>
          </a:solidFill>
          <a:ln w="15875">
            <a:solidFill>
              <a:schemeClr val="accent1"/>
            </a:solidFill>
            <a:prstDash val="solid"/>
          </a:ln>
        </p:spPr>
      </p:sp>
      <p:sp>
        <p:nvSpPr>
          <p:cNvPr id="10" name="GroceryStore label"/>
          <p:cNvSpPr txBox="1"/>
          <p:nvPr/>
        </p:nvSpPr>
        <p:spPr>
          <a:xfrm>
            <a:off x="6492240" y="1325880"/>
            <a:ext cx="2103120" cy="109728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GroceryStore</a:t>
            </a:r>
            <a:endParaRPr lang="en-US" sz="1800" dirty="0"/>
          </a:p>
          <a:p>
            <a:pPr marL="0" indent="0" algn="ctr">
              <a:buNone/>
            </a:pPr>
            <a:r>
              <a:rPr lang="en-US" sz="1400" dirty="0">
                <a:solidFill>
                  <a:schemeClr val="tx1"/>
                </a:solidFill>
              </a:rPr>
              <a:t>Product, Cart, Customer objects</a:t>
            </a:r>
            <a:endParaRPr lang="en-US" sz="1800" dirty="0"/>
          </a:p>
        </p:txBody>
      </p:sp>
      <p:sp>
        <p:nvSpPr>
          <p:cNvPr id="11" name="Demo steps card"/>
          <p:cNvSpPr/>
          <p:nvPr/>
        </p:nvSpPr>
        <p:spPr>
          <a:xfrm>
            <a:off x="457200" y="2743200"/>
            <a:ext cx="5029200" cy="1828800"/>
          </a:xfrm>
          <a:prstGeom prst="roundRect">
            <a:avLst>
              <a:gd name="adj" fmla="val 5000"/>
            </a:avLst>
          </a:prstGeom>
          <a:solidFill>
            <a:schemeClr val="bg2"/>
          </a:solidFill>
          <a:ln w="12700">
            <a:solidFill>
              <a:schemeClr val="bg2"/>
            </a:solidFill>
            <a:prstDash val="solid"/>
          </a:ln>
        </p:spPr>
      </p:sp>
      <p:sp>
        <p:nvSpPr>
          <p:cNvPr id="12" name="Demo steps"/>
          <p:cNvSpPr txBox="1"/>
          <p:nvPr/>
        </p:nvSpPr>
        <p:spPr>
          <a:xfrm>
            <a:off x="685800" y="2834640"/>
            <a:ext cx="4572000" cy="1645920"/>
          </a:xfrm>
          <a:prstGeom prst="rect">
            <a:avLst/>
          </a:prstGeom>
          <a:noFill/>
          <a:ln/>
        </p:spPr>
        <p:txBody>
          <a:bodyPr wrap="square" lIns="0" tIns="0" rIns="0" bIns="0" rtlCol="0" anchor="ctr"/>
          <a:lstStyle/>
          <a:p>
            <a:pPr marL="0" indent="0">
              <a:spcAft>
                <a:spcPts val="400"/>
              </a:spcAft>
              <a:buNone/>
            </a:pPr>
            <a:r>
              <a:rPr lang="en-US" sz="1600" b="1" dirty="0">
                <a:solidFill>
                  <a:schemeClr val="tx1"/>
                </a:solidFill>
                <a:latin typeface="Cambria" pitchFamily="34" charset="0"/>
                <a:ea typeface="Cambria" pitchFamily="34" charset="-122"/>
                <a:cs typeface="Cambria" pitchFamily="34" charset="-120"/>
              </a:rPr>
              <a:t>Demo steps</a:t>
            </a:r>
            <a:endParaRPr lang="en-US" sz="1400" dirty="0"/>
          </a:p>
          <a:p>
            <a:pPr marL="342900" indent="-342900">
              <a:spcAft>
                <a:spcPts val="400"/>
              </a:spcAft>
              <a:buSzPct val="100000"/>
              <a:buFont typeface="+mj-lt"/>
              <a:buAutoNum type="arabicPeriod"/>
            </a:pPr>
            <a:r>
              <a:rPr lang="en-US" sz="1400" dirty="0">
                <a:solidFill>
                  <a:schemeClr val="tx1"/>
                </a:solidFill>
              </a:rPr>
              <a:t>Browse products and filter by type</a:t>
            </a:r>
            <a:endParaRPr lang="en-US" sz="1400" dirty="0"/>
          </a:p>
          <a:p>
            <a:pPr marL="342900" indent="-342900">
              <a:spcAft>
                <a:spcPts val="400"/>
              </a:spcAft>
              <a:buSzPct val="100000"/>
              <a:buFont typeface="+mj-lt"/>
              <a:buAutoNum type="arabicPeriod"/>
            </a:pPr>
            <a:r>
              <a:rPr lang="en-US" sz="1400" dirty="0">
                <a:solidFill>
                  <a:schemeClr val="tx1"/>
                </a:solidFill>
              </a:rPr>
              <a:t>Add rice, then try more than the stock</a:t>
            </a:r>
            <a:endParaRPr lang="en-US" sz="1400" dirty="0"/>
          </a:p>
          <a:p>
            <a:pPr marL="342900" indent="-342900">
              <a:spcAft>
                <a:spcPts val="400"/>
              </a:spcAft>
              <a:buSzPct val="100000"/>
              <a:buFont typeface="+mj-lt"/>
              <a:buAutoNum type="arabicPeriod"/>
            </a:pPr>
            <a:r>
              <a:rPr lang="en-US" sz="1400" dirty="0">
                <a:solidFill>
                  <a:schemeClr val="tx1"/>
                </a:solidFill>
              </a:rPr>
              <a:t>Open the cart and check the total</a:t>
            </a:r>
            <a:endParaRPr lang="en-US" sz="1400" dirty="0"/>
          </a:p>
          <a:p>
            <a:pPr marL="342900" indent="-342900">
              <a:spcAft>
                <a:spcPts val="400"/>
              </a:spcAft>
              <a:buSzPct val="100000"/>
              <a:buFont typeface="+mj-lt"/>
              <a:buAutoNum type="arabicPeriod"/>
            </a:pPr>
            <a:r>
              <a:rPr lang="en-US" sz="1400" dirty="0">
                <a:solidFill>
                  <a:schemeClr val="tx1"/>
                </a:solidFill>
              </a:rPr>
              <a:t>Pay and watch the stock drop</a:t>
            </a:r>
            <a:endParaRPr lang="en-US" sz="1400" dirty="0"/>
          </a:p>
        </p:txBody>
      </p:sp>
      <p:sp>
        <p:nvSpPr>
          <p:cNvPr id="13" name="Links card"/>
          <p:cNvSpPr/>
          <p:nvPr/>
        </p:nvSpPr>
        <p:spPr>
          <a:xfrm>
            <a:off x="5760720" y="2743200"/>
            <a:ext cx="2926080" cy="1828800"/>
          </a:xfrm>
          <a:prstGeom prst="roundRect">
            <a:avLst>
              <a:gd name="adj" fmla="val 5000"/>
            </a:avLst>
          </a:prstGeom>
          <a:solidFill>
            <a:schemeClr val="bg2"/>
          </a:solidFill>
          <a:ln w="12700">
            <a:solidFill>
              <a:schemeClr val="bg2"/>
            </a:solidFill>
            <a:prstDash val="solid"/>
          </a:ln>
        </p:spPr>
      </p:sp>
      <p:sp>
        <p:nvSpPr>
          <p:cNvPr id="14" name="Local site badge"/>
          <p:cNvSpPr/>
          <p:nvPr/>
        </p:nvSpPr>
        <p:spPr>
          <a:xfrm>
            <a:off x="5943600" y="2880360"/>
            <a:ext cx="457200" cy="457200"/>
          </a:xfrm>
          <a:prstGeom prst="ellipse">
            <a:avLst/>
          </a:prstGeom>
          <a:solidFill>
            <a:schemeClr val="accent1"/>
          </a:solidFill>
          <a:ln w="12700">
            <a:solidFill>
              <a:schemeClr val="accent1"/>
            </a:solidFill>
            <a:prstDash val="solid"/>
          </a:ln>
        </p:spPr>
      </p:sp>
      <p:pic>
        <p:nvPicPr>
          <p:cNvPr id="15" name="Image 0" descr="Local site"/>
          <p:cNvPicPr>
            <a:picLocks noChangeAspect="1"/>
          </p:cNvPicPr>
          <p:nvPr/>
        </p:nvPicPr>
        <p:blipFill>
          <a:blip r:embed="rId3"/>
          <a:stretch>
            <a:fillRect/>
          </a:stretch>
        </p:blipFill>
        <p:spPr>
          <a:xfrm>
            <a:off x="6057900" y="2994660"/>
            <a:ext cx="228600" cy="228600"/>
          </a:xfrm>
          <a:prstGeom prst="rect">
            <a:avLst/>
          </a:prstGeom>
        </p:spPr>
      </p:pic>
      <p:sp>
        <p:nvSpPr>
          <p:cNvPr id="16" name="GitHub badge"/>
          <p:cNvSpPr/>
          <p:nvPr/>
        </p:nvSpPr>
        <p:spPr>
          <a:xfrm>
            <a:off x="5943600" y="3657600"/>
            <a:ext cx="457200" cy="457200"/>
          </a:xfrm>
          <a:prstGeom prst="ellipse">
            <a:avLst/>
          </a:prstGeom>
          <a:solidFill>
            <a:schemeClr val="accent4"/>
          </a:solidFill>
          <a:ln w="12700">
            <a:solidFill>
              <a:schemeClr val="accent4"/>
            </a:solidFill>
            <a:prstDash val="solid"/>
          </a:ln>
        </p:spPr>
      </p:sp>
      <p:pic>
        <p:nvPicPr>
          <p:cNvPr id="17" name="Image 1" descr="GitHub"/>
          <p:cNvPicPr>
            <a:picLocks noChangeAspect="1"/>
          </p:cNvPicPr>
          <p:nvPr/>
        </p:nvPicPr>
        <p:blipFill>
          <a:blip r:embed="rId4"/>
          <a:stretch>
            <a:fillRect/>
          </a:stretch>
        </p:blipFill>
        <p:spPr>
          <a:xfrm>
            <a:off x="6057900" y="3771900"/>
            <a:ext cx="228600" cy="228600"/>
          </a:xfrm>
          <a:prstGeom prst="rect">
            <a:avLst/>
          </a:prstGeom>
        </p:spPr>
      </p:pic>
      <p:sp>
        <p:nvSpPr>
          <p:cNvPr id="18" name="Local site link"/>
          <p:cNvSpPr txBox="1"/>
          <p:nvPr/>
        </p:nvSpPr>
        <p:spPr>
          <a:xfrm>
            <a:off x="6537960" y="2880360"/>
            <a:ext cx="2103120" cy="502920"/>
          </a:xfrm>
          <a:prstGeom prst="rect">
            <a:avLst/>
          </a:prstGeom>
          <a:noFill/>
          <a:ln/>
        </p:spPr>
        <p:txBody>
          <a:bodyPr wrap="square" lIns="0" tIns="0" rIns="0" bIns="0" rtlCol="0" anchor="ctr"/>
          <a:lstStyle/>
          <a:p>
            <a:pPr marL="0" indent="0">
              <a:buNone/>
            </a:pPr>
            <a:r>
              <a:rPr lang="en-US" sz="1400" b="1" dirty="0">
                <a:solidFill>
                  <a:schemeClr val="tx1"/>
                </a:solidFill>
              </a:rPr>
              <a:t>Local site</a:t>
            </a:r>
            <a:endParaRPr lang="en-US" sz="1400" dirty="0"/>
          </a:p>
          <a:p>
            <a:pPr marL="0" indent="0">
              <a:buNone/>
            </a:pPr>
            <a:r>
              <a:rPr lang="en-US" sz="1400" dirty="0">
                <a:solidFill>
                  <a:schemeClr val="tx1"/>
                </a:solidFill>
              </a:rPr>
              <a:t>http://localhost:8080</a:t>
            </a:r>
            <a:endParaRPr lang="en-US" sz="1400" dirty="0"/>
          </a:p>
        </p:txBody>
      </p:sp>
      <p:sp>
        <p:nvSpPr>
          <p:cNvPr id="19" name="GitHub link"/>
          <p:cNvSpPr txBox="1"/>
          <p:nvPr/>
        </p:nvSpPr>
        <p:spPr>
          <a:xfrm>
            <a:off x="6537960" y="3657600"/>
            <a:ext cx="2103120" cy="502920"/>
          </a:xfrm>
          <a:prstGeom prst="rect">
            <a:avLst/>
          </a:prstGeom>
          <a:noFill/>
          <a:ln/>
        </p:spPr>
        <p:txBody>
          <a:bodyPr wrap="square" lIns="0" tIns="0" rIns="0" bIns="0" rtlCol="0" anchor="ctr"/>
          <a:lstStyle/>
          <a:p>
            <a:pPr marL="0" indent="0">
              <a:buNone/>
            </a:pPr>
            <a:r>
              <a:rPr lang="en-US" sz="1400" b="1" dirty="0">
                <a:solidFill>
                  <a:schemeClr val="tx1"/>
                </a:solidFill>
              </a:rPr>
              <a:t>GitHub</a:t>
            </a:r>
            <a:endParaRPr lang="en-US" sz="1400" dirty="0"/>
          </a:p>
          <a:p>
            <a:pPr marL="0" indent="0">
              <a:buNone/>
            </a:pPr>
            <a:r>
              <a:rPr lang="en-US" sz="1400" dirty="0">
                <a:solidFill>
                  <a:schemeClr val="tx1"/>
                </a:solidFill>
              </a:rPr>
              <a:t>[repository link]</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lide title"/>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chemeClr val="bg1"/>
                </a:solidFill>
                <a:latin typeface="Cambria" pitchFamily="34" charset="0"/>
                <a:ea typeface="Cambria" pitchFamily="34" charset="-122"/>
                <a:cs typeface="Cambria" pitchFamily="34" charset="-120"/>
              </a:rPr>
              <a:t>Conclusion</a:t>
            </a:r>
            <a:endParaRPr lang="en-US" sz="3600" dirty="0"/>
          </a:p>
        </p:txBody>
      </p:sp>
      <p:sp>
        <p:nvSpPr>
          <p:cNvPr id="3" name="Built heading"/>
          <p:cNvSpPr txBox="1"/>
          <p:nvPr/>
        </p:nvSpPr>
        <p:spPr>
          <a:xfrm>
            <a:off x="457200" y="1371600"/>
            <a:ext cx="3840480" cy="365760"/>
          </a:xfrm>
          <a:prstGeom prst="rect">
            <a:avLst/>
          </a:prstGeom>
          <a:noFill/>
          <a:ln/>
        </p:spPr>
        <p:txBody>
          <a:bodyPr wrap="square" lIns="0" tIns="0" rIns="0" bIns="0" rtlCol="0" anchor="ctr"/>
          <a:lstStyle/>
          <a:p>
            <a:pPr marL="0" indent="0">
              <a:buNone/>
            </a:pPr>
            <a:r>
              <a:rPr lang="en-US" sz="2000" b="1" dirty="0">
                <a:solidFill>
                  <a:schemeClr val="accent2"/>
                </a:solidFill>
                <a:latin typeface="Cambria" pitchFamily="34" charset="0"/>
                <a:ea typeface="Cambria" pitchFamily="34" charset="-122"/>
                <a:cs typeface="Cambria" pitchFamily="34" charset="-120"/>
              </a:rPr>
              <a:t>What we built</a:t>
            </a:r>
            <a:endParaRPr lang="en-US" sz="2000" dirty="0"/>
          </a:p>
        </p:txBody>
      </p:sp>
      <p:sp>
        <p:nvSpPr>
          <p:cNvPr id="4" name="Built list"/>
          <p:cNvSpPr txBox="1"/>
          <p:nvPr/>
        </p:nvSpPr>
        <p:spPr>
          <a:xfrm>
            <a:off x="457200" y="1828800"/>
            <a:ext cx="384048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Accurate billing and live stock checks</a:t>
            </a:r>
            <a:endParaRPr lang="en-US" sz="1600" dirty="0"/>
          </a:p>
          <a:p>
            <a:pPr marL="342900" indent="-342900">
              <a:spcAft>
                <a:spcPts val="1000"/>
              </a:spcAft>
              <a:buSzPct val="100000"/>
              <a:buChar char="•"/>
            </a:pPr>
            <a:r>
              <a:rPr lang="en-US" sz="1600" dirty="0">
                <a:solidFill>
                  <a:schemeClr val="bg1"/>
                </a:solidFill>
              </a:rPr>
              <a:t>A clean OOP design with five UML diagrams</a:t>
            </a:r>
            <a:endParaRPr lang="en-US" sz="1600" dirty="0"/>
          </a:p>
          <a:p>
            <a:pPr marL="342900" indent="-342900">
              <a:spcAft>
                <a:spcPts val="1000"/>
              </a:spcAft>
              <a:buSzPct val="100000"/>
              <a:buChar char="•"/>
            </a:pPr>
            <a:r>
              <a:rPr lang="en-US" sz="1600" dirty="0">
                <a:solidFill>
                  <a:schemeClr val="bg1"/>
                </a:solidFill>
              </a:rPr>
              <a:t>The same classes serve a console app and a local website</a:t>
            </a:r>
            <a:endParaRPr lang="en-US" sz="1600" dirty="0"/>
          </a:p>
        </p:txBody>
      </p:sp>
      <p:sp>
        <p:nvSpPr>
          <p:cNvPr id="5" name="Next heading"/>
          <p:cNvSpPr txBox="1"/>
          <p:nvPr/>
        </p:nvSpPr>
        <p:spPr>
          <a:xfrm>
            <a:off x="4846320" y="1371600"/>
            <a:ext cx="3840480" cy="365760"/>
          </a:xfrm>
          <a:prstGeom prst="rect">
            <a:avLst/>
          </a:prstGeom>
          <a:noFill/>
          <a:ln/>
        </p:spPr>
        <p:txBody>
          <a:bodyPr wrap="square" lIns="0" tIns="0" rIns="0" bIns="0" rtlCol="0" anchor="ctr"/>
          <a:lstStyle/>
          <a:p>
            <a:pPr marL="0" indent="0">
              <a:buNone/>
            </a:pPr>
            <a:r>
              <a:rPr lang="en-US" sz="2000" b="1" dirty="0">
                <a:solidFill>
                  <a:schemeClr val="accent2"/>
                </a:solidFill>
                <a:latin typeface="Cambria" pitchFamily="34" charset="0"/>
                <a:ea typeface="Cambria" pitchFamily="34" charset="-122"/>
                <a:cs typeface="Cambria" pitchFamily="34" charset="-120"/>
              </a:rPr>
              <a:t>Next steps</a:t>
            </a:r>
            <a:endParaRPr lang="en-US" sz="2000" dirty="0"/>
          </a:p>
        </p:txBody>
      </p:sp>
      <p:sp>
        <p:nvSpPr>
          <p:cNvPr id="6" name="Next list"/>
          <p:cNvSpPr txBox="1"/>
          <p:nvPr/>
        </p:nvSpPr>
        <p:spPr>
          <a:xfrm>
            <a:off x="4846320" y="1828800"/>
            <a:ext cx="384048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Save data in a database or files</a:t>
            </a:r>
            <a:endParaRPr lang="en-US" sz="1600" dirty="0"/>
          </a:p>
          <a:p>
            <a:pPr marL="342900" indent="-342900">
              <a:spcAft>
                <a:spcPts val="1000"/>
              </a:spcAft>
              <a:buSzPct val="100000"/>
              <a:buChar char="•"/>
            </a:pPr>
            <a:r>
              <a:rPr lang="en-US" sz="1600" dirty="0">
                <a:solidFill>
                  <a:schemeClr val="bg1"/>
                </a:solidFill>
              </a:rPr>
              <a:t>Add admin login and stock updates</a:t>
            </a:r>
            <a:endParaRPr lang="en-US" sz="1600" dirty="0"/>
          </a:p>
          <a:p>
            <a:pPr marL="342900" indent="-342900">
              <a:spcAft>
                <a:spcPts val="1000"/>
              </a:spcAft>
              <a:buSzPct val="100000"/>
              <a:buChar char="•"/>
            </a:pPr>
            <a:r>
              <a:rPr lang="en-US" sz="1600" dirty="0">
                <a:solidFill>
                  <a:schemeClr val="bg1"/>
                </a:solidFill>
              </a:rPr>
              <a:t>Add online payment and order history</a:t>
            </a:r>
            <a:endParaRPr lang="en-US" sz="1600" dirty="0"/>
          </a:p>
        </p:txBody>
      </p:sp>
      <p:sp>
        <p:nvSpPr>
          <p:cNvPr id="7" name="Closing line"/>
          <p:cNvSpPr txBox="1"/>
          <p:nvPr/>
        </p:nvSpPr>
        <p:spPr>
          <a:xfrm>
            <a:off x="457200" y="4114800"/>
            <a:ext cx="8229600" cy="548640"/>
          </a:xfrm>
          <a:prstGeom prst="rect">
            <a:avLst/>
          </a:prstGeom>
          <a:noFill/>
          <a:ln/>
        </p:spPr>
        <p:txBody>
          <a:bodyPr wrap="square" lIns="0" tIns="0" rIns="0" bIns="0" rtlCol="0" anchor="ctr"/>
          <a:lstStyle/>
          <a:p>
            <a:pPr marL="0" indent="0">
              <a:buNone/>
            </a:pPr>
            <a:r>
              <a:rPr lang="en-US" sz="2400" b="1" dirty="0">
                <a:solidFill>
                  <a:schemeClr val="bg1"/>
                </a:solidFill>
                <a:latin typeface="Cambria" pitchFamily="34" charset="0"/>
                <a:ea typeface="Cambria" pitchFamily="34" charset="-122"/>
                <a:cs typeface="Cambria" pitchFamily="34" charset="-120"/>
              </a:rPr>
              <a:t>Thank you. Questions?</a:t>
            </a:r>
            <a:endParaRPr lang="en-US" sz="2400" dirty="0"/>
          </a:p>
        </p:txBody>
      </p:sp>
    </p:spTree>
  </p:cSld>
  <p:clrMapOvr>
    <a:masterClrMapping/>
  </p:clrMapOvr>
</p:sld>
</file>

<file path=ppt/theme/theme1.xml><?xml version="1.0" encoding="utf-8"?>
<a:theme xmlns:a="http://schemas.openxmlformats.org/drawingml/2006/main" name="Fresh Mart">
  <a:themeElements>
    <a:clrScheme name="Fresh Mart">
      <a:dk1>
        <a:srgbClr val="1B2A22"/>
      </a:dk1>
      <a:lt1>
        <a:srgbClr val="FFFFFF"/>
      </a:lt1>
      <a:dk2>
        <a:srgbClr val="214E39"/>
      </a:dk2>
      <a:lt2>
        <a:srgbClr val="EEF2EC"/>
      </a:lt2>
      <a:accent1>
        <a:srgbClr val="2F6B4F"/>
      </a:accent1>
      <a:accent2>
        <a:srgbClr val="F2B632"/>
      </a:accent2>
      <a:accent3>
        <a:srgbClr val="C8402B"/>
      </a:accent3>
      <a:accent4>
        <a:srgbClr val="214E39"/>
      </a:accent4>
      <a:accent5>
        <a:srgbClr val="5D6E64"/>
      </a:accent5>
      <a:accent6>
        <a:srgbClr val="D5DDD3"/>
      </a:accent6>
      <a:hlink>
        <a:srgbClr val="2F6B4F"/>
      </a:hlink>
      <a:folHlink>
        <a:srgbClr val="5D6E64"/>
      </a:folHlink>
    </a:clrScheme>
    <a:fontScheme name="Fresh Ma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1495</Words>
  <Application>Microsoft Office PowerPoint</Application>
  <PresentationFormat>On-screen Show (16:9)</PresentationFormat>
  <Paragraphs>182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Fresh Mart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 Mart - Grocery Shop Management System</dc:title>
  <dc:subject>PptxGenJS Presentation</dc:subject>
  <dc:creator>PptxGenJS</dc:creator>
  <cp:lastModifiedBy>A T</cp:lastModifiedBy>
  <cp:revision>1</cp:revision>
  <dcterms:created xsi:type="dcterms:W3CDTF">2026-10-29T00:35:19Z</dcterms:created>
  <dcterms:modified xsi:type="dcterms:W3CDTF">2026-10-29T03:20:52Z</dcterms:modified>
</cp:coreProperties>
</file>